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260" r:id="rId3"/>
    <p:sldId id="261" r:id="rId4"/>
    <p:sldId id="262" r:id="rId5"/>
    <p:sldId id="265" r:id="rId6"/>
    <p:sldId id="266" r:id="rId7"/>
    <p:sldId id="267" r:id="rId8"/>
    <p:sldId id="268" r:id="rId9"/>
    <p:sldId id="264" r:id="rId10"/>
    <p:sldId id="263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7" r:id="rId19"/>
    <p:sldId id="276" r:id="rId20"/>
    <p:sldId id="278" r:id="rId21"/>
    <p:sldId id="279" r:id="rId22"/>
    <p:sldId id="281" r:id="rId23"/>
    <p:sldId id="284" r:id="rId24"/>
    <p:sldId id="283" r:id="rId25"/>
    <p:sldId id="282" r:id="rId26"/>
    <p:sldId id="285" r:id="rId27"/>
    <p:sldId id="286" r:id="rId28"/>
    <p:sldId id="287" r:id="rId29"/>
    <p:sldId id="288" r:id="rId30"/>
    <p:sldId id="289" r:id="rId31"/>
    <p:sldId id="290" r:id="rId32"/>
    <p:sldId id="291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12" autoAdjust="0"/>
  </p:normalViewPr>
  <p:slideViewPr>
    <p:cSldViewPr snapToGrid="0">
      <p:cViewPr varScale="1">
        <p:scale>
          <a:sx n="82" d="100"/>
          <a:sy n="82" d="100"/>
        </p:scale>
        <p:origin x="147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A46763-75F8-4C39-AA2E-BFBF12ABC36E}" type="datetimeFigureOut">
              <a:rPr lang="zh-CN" altLang="en-US" smtClean="0"/>
              <a:t>2019/10/28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704481-ED0D-4616-98A1-C2DA121B4C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338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704481-ED0D-4616-98A1-C2DA121B4CA6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8414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704481-ED0D-4616-98A1-C2DA121B4CA6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9708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704481-ED0D-4616-98A1-C2DA121B4CA6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7696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704481-ED0D-4616-98A1-C2DA121B4CA6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2257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704481-ED0D-4616-98A1-C2DA121B4CA6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5262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704481-ED0D-4616-98A1-C2DA121B4CA6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82903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704481-ED0D-4616-98A1-C2DA121B4CA6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4670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704481-ED0D-4616-98A1-C2DA121B4CA6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075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709C1-2095-4981-AF2E-0FE2839C72BF}" type="datetimeFigureOut">
              <a:rPr lang="zh-CN" altLang="en-US" smtClean="0"/>
              <a:t>2019/10/28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BB21-3379-4F5E-8C02-B250EEDDF6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5557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709C1-2095-4981-AF2E-0FE2839C72BF}" type="datetimeFigureOut">
              <a:rPr lang="zh-CN" altLang="en-US" smtClean="0"/>
              <a:t>2019/10/28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BB21-3379-4F5E-8C02-B250EEDDF6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992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709C1-2095-4981-AF2E-0FE2839C72BF}" type="datetimeFigureOut">
              <a:rPr lang="zh-CN" altLang="en-US" smtClean="0"/>
              <a:t>2019/10/28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BB21-3379-4F5E-8C02-B250EEDDF6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87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709C1-2095-4981-AF2E-0FE2839C72BF}" type="datetimeFigureOut">
              <a:rPr lang="zh-CN" altLang="en-US" smtClean="0"/>
              <a:t>2019/10/28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BB21-3379-4F5E-8C02-B250EEDDF6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292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709C1-2095-4981-AF2E-0FE2839C72BF}" type="datetimeFigureOut">
              <a:rPr lang="zh-CN" altLang="en-US" smtClean="0"/>
              <a:t>2019/10/28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BB21-3379-4F5E-8C02-B250EEDDF6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3573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709C1-2095-4981-AF2E-0FE2839C72BF}" type="datetimeFigureOut">
              <a:rPr lang="zh-CN" altLang="en-US" smtClean="0"/>
              <a:t>2019/10/28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BB21-3379-4F5E-8C02-B250EEDDF6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5600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709C1-2095-4981-AF2E-0FE2839C72BF}" type="datetimeFigureOut">
              <a:rPr lang="zh-CN" altLang="en-US" smtClean="0"/>
              <a:t>2019/10/28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BB21-3379-4F5E-8C02-B250EEDDF6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018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709C1-2095-4981-AF2E-0FE2839C72BF}" type="datetimeFigureOut">
              <a:rPr lang="zh-CN" altLang="en-US" smtClean="0"/>
              <a:t>2019/10/28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BB21-3379-4F5E-8C02-B250EEDDF6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3046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709C1-2095-4981-AF2E-0FE2839C72BF}" type="datetimeFigureOut">
              <a:rPr lang="zh-CN" altLang="en-US" smtClean="0"/>
              <a:t>2019/10/28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BB21-3379-4F5E-8C02-B250EEDDF6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14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709C1-2095-4981-AF2E-0FE2839C72BF}" type="datetimeFigureOut">
              <a:rPr lang="zh-CN" altLang="en-US" smtClean="0"/>
              <a:t>2019/10/28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BB21-3379-4F5E-8C02-B250EEDDF6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801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709C1-2095-4981-AF2E-0FE2839C72BF}" type="datetimeFigureOut">
              <a:rPr lang="zh-CN" altLang="en-US" smtClean="0"/>
              <a:t>2019/10/28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BB21-3379-4F5E-8C02-B250EEDDF6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4831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F709C1-2095-4981-AF2E-0FE2839C72BF}" type="datetimeFigureOut">
              <a:rPr lang="zh-CN" altLang="en-US" smtClean="0"/>
              <a:t>2019/10/28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BEBB21-3379-4F5E-8C02-B250EEDDF6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249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jp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44DAE1-E9A5-4192-82C2-FB66F42CA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396" y="390952"/>
            <a:ext cx="2146430" cy="601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4BE8F8A-F77A-49B2-85A2-09A5783F77E9}"/>
              </a:ext>
            </a:extLst>
          </p:cNvPr>
          <p:cNvSpPr txBox="1"/>
          <p:nvPr/>
        </p:nvSpPr>
        <p:spPr>
          <a:xfrm>
            <a:off x="1679511" y="2052735"/>
            <a:ext cx="6288832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KEIKONG</a:t>
            </a:r>
          </a:p>
          <a:p>
            <a:pPr algn="ctr"/>
            <a:endParaRPr lang="en-US" altLang="zh-C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 office Motor Training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1511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44DAE1-E9A5-4192-82C2-FB66F42CA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097" y="577565"/>
            <a:ext cx="2146430" cy="6010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EE9CDB90-D293-43F8-896A-1152512083C6}"/>
              </a:ext>
            </a:extLst>
          </p:cNvPr>
          <p:cNvSpPr txBox="1">
            <a:spLocks noChangeArrowheads="1"/>
          </p:cNvSpPr>
          <p:nvPr/>
        </p:nvSpPr>
        <p:spPr>
          <a:xfrm>
            <a:off x="662473" y="310202"/>
            <a:ext cx="7347007" cy="8683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084D090-18BB-4A7D-97B8-EBDDAAF133D6}"/>
              </a:ext>
            </a:extLst>
          </p:cNvPr>
          <p:cNvCxnSpPr>
            <a:cxnSpLocks/>
          </p:cNvCxnSpPr>
          <p:nvPr/>
        </p:nvCxnSpPr>
        <p:spPr>
          <a:xfrm>
            <a:off x="205273" y="1287624"/>
            <a:ext cx="87334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3EC19A33-9F7B-4591-9011-3E73D29DF0E7}"/>
              </a:ext>
            </a:extLst>
          </p:cNvPr>
          <p:cNvSpPr txBox="1"/>
          <p:nvPr/>
        </p:nvSpPr>
        <p:spPr>
          <a:xfrm>
            <a:off x="998376" y="1968760"/>
            <a:ext cx="687666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</a:t>
            </a:r>
            <a:r>
              <a:rPr lang="zh-CN" altLang="en-US" sz="2400" dirty="0"/>
              <a:t>、电机组成和原理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2</a:t>
            </a:r>
            <a:r>
              <a:rPr lang="zh-CN" altLang="en-US" sz="2400" dirty="0"/>
              <a:t>、电机种类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3</a:t>
            </a:r>
            <a:r>
              <a:rPr lang="zh-CN" altLang="en-US" sz="2400" dirty="0"/>
              <a:t>、电机控制系统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4</a:t>
            </a:r>
            <a:r>
              <a:rPr lang="zh-CN" altLang="en-US" sz="2400" dirty="0"/>
              <a:t>、电机控制使用相关器件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5</a:t>
            </a:r>
            <a:r>
              <a:rPr lang="zh-CN" altLang="en-US" sz="2400" dirty="0"/>
              <a:t>、适合电机控制产品及方案</a:t>
            </a:r>
          </a:p>
        </p:txBody>
      </p:sp>
    </p:spTree>
    <p:extLst>
      <p:ext uri="{BB962C8B-B14F-4D97-AF65-F5344CB8AC3E}">
        <p14:creationId xmlns:p14="http://schemas.microsoft.com/office/powerpoint/2010/main" val="4172400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44DAE1-E9A5-4192-82C2-FB66F42CA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097" y="577565"/>
            <a:ext cx="2146430" cy="6010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EE9CDB90-D293-43F8-896A-1152512083C6}"/>
              </a:ext>
            </a:extLst>
          </p:cNvPr>
          <p:cNvSpPr txBox="1">
            <a:spLocks noChangeArrowheads="1"/>
          </p:cNvSpPr>
          <p:nvPr/>
        </p:nvSpPr>
        <p:spPr>
          <a:xfrm>
            <a:off x="662473" y="310202"/>
            <a:ext cx="7347007" cy="8683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电机组成和原理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084D090-18BB-4A7D-97B8-EBDDAAF133D6}"/>
              </a:ext>
            </a:extLst>
          </p:cNvPr>
          <p:cNvCxnSpPr>
            <a:cxnSpLocks/>
          </p:cNvCxnSpPr>
          <p:nvPr/>
        </p:nvCxnSpPr>
        <p:spPr>
          <a:xfrm>
            <a:off x="205273" y="1287624"/>
            <a:ext cx="87334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BD5EAB2E-B992-4336-ABF0-52FAFA632427}"/>
              </a:ext>
            </a:extLst>
          </p:cNvPr>
          <p:cNvSpPr txBox="1"/>
          <p:nvPr/>
        </p:nvSpPr>
        <p:spPr>
          <a:xfrm>
            <a:off x="574332" y="1036671"/>
            <a:ext cx="7523288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1</a:t>
            </a:r>
            <a:r>
              <a:rPr lang="zh-CN" altLang="en-US" dirty="0"/>
              <a:t>、电动机是由定子（固定部分）和转子（转动部分）两个基本部分组成。另外还包括外壳 、轴承 、（接线盒、 风叶、 风罩 ）。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2</a:t>
            </a:r>
            <a:r>
              <a:rPr lang="zh-CN" altLang="en-US" dirty="0"/>
              <a:t>、电机分类：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 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 BDC</a:t>
            </a:r>
            <a:r>
              <a:rPr lang="zh-CN" altLang="en-US" dirty="0"/>
              <a:t>（直流有刷电机）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</a:t>
            </a:r>
            <a:r>
              <a:rPr lang="zh-CN" altLang="en-US" dirty="0"/>
              <a:t>       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Stepper</a:t>
            </a:r>
            <a:r>
              <a:rPr lang="zh-CN" altLang="en-US" dirty="0"/>
              <a:t>（步进电机）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  </a:t>
            </a: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en-US" altLang="zh-CN" dirty="0"/>
              <a:t>BLDC</a:t>
            </a:r>
            <a:r>
              <a:rPr lang="zh-CN" altLang="en-US" dirty="0"/>
              <a:t>（直流无刷电机）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  </a:t>
            </a: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  <a:r>
              <a:rPr lang="en-US" altLang="zh-CN" dirty="0"/>
              <a:t>PMSM</a:t>
            </a:r>
            <a:r>
              <a:rPr lang="zh-CN" altLang="en-US" dirty="0"/>
              <a:t>（永磁同步电机）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  </a:t>
            </a:r>
            <a:r>
              <a:rPr lang="zh-CN" altLang="en-US" dirty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）</a:t>
            </a:r>
            <a:r>
              <a:rPr lang="en-US" altLang="zh-CN" dirty="0"/>
              <a:t>ACIM</a:t>
            </a:r>
            <a:r>
              <a:rPr lang="zh-CN" altLang="en-US" dirty="0"/>
              <a:t>（交流电机）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  </a:t>
            </a:r>
            <a:r>
              <a:rPr lang="zh-CN" altLang="en-US" dirty="0"/>
              <a:t>（</a:t>
            </a:r>
            <a:r>
              <a:rPr lang="en-US" altLang="zh-CN" dirty="0"/>
              <a:t>6</a:t>
            </a:r>
            <a:r>
              <a:rPr lang="zh-CN" altLang="en-US" dirty="0"/>
              <a:t>）</a:t>
            </a:r>
            <a:r>
              <a:rPr lang="en-US" altLang="zh-CN" dirty="0"/>
              <a:t>Switch Reluctance(</a:t>
            </a:r>
            <a:r>
              <a:rPr lang="zh-CN" altLang="en-US" dirty="0"/>
              <a:t>开关磁阻电机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DFAFA1F-9623-4604-BE6A-EFA5594392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9384" y="3200400"/>
            <a:ext cx="3969811" cy="2620929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04F0453D-26B2-4607-9F80-54F8400942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303013"/>
            <a:ext cx="8382000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024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44DAE1-E9A5-4192-82C2-FB66F42CA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097" y="577565"/>
            <a:ext cx="2146430" cy="6010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EE9CDB90-D293-43F8-896A-1152512083C6}"/>
              </a:ext>
            </a:extLst>
          </p:cNvPr>
          <p:cNvSpPr txBox="1">
            <a:spLocks noChangeArrowheads="1"/>
          </p:cNvSpPr>
          <p:nvPr/>
        </p:nvSpPr>
        <p:spPr>
          <a:xfrm>
            <a:off x="662473" y="310202"/>
            <a:ext cx="7347007" cy="8683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电机组成和原理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084D090-18BB-4A7D-97B8-EBDDAAF133D6}"/>
              </a:ext>
            </a:extLst>
          </p:cNvPr>
          <p:cNvCxnSpPr>
            <a:cxnSpLocks/>
          </p:cNvCxnSpPr>
          <p:nvPr/>
        </p:nvCxnSpPr>
        <p:spPr>
          <a:xfrm>
            <a:off x="205273" y="1287624"/>
            <a:ext cx="87334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1BAB8380-B2ED-4119-923B-2BDE7F4C86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2309" y="3218076"/>
            <a:ext cx="2749218" cy="324161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D5EAB2E-B992-4336-ABF0-52FAFA632427}"/>
              </a:ext>
            </a:extLst>
          </p:cNvPr>
          <p:cNvSpPr txBox="1"/>
          <p:nvPr/>
        </p:nvSpPr>
        <p:spPr>
          <a:xfrm>
            <a:off x="538360" y="1515355"/>
            <a:ext cx="7471120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zh-CN" altLang="en-US" b="1" dirty="0"/>
              <a:t>物理学原理：安培力</a:t>
            </a:r>
            <a:r>
              <a:rPr lang="zh-CN" altLang="en-US" dirty="0"/>
              <a:t>：通电导线在磁场中受到力的作用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b="1" dirty="0"/>
              <a:t>BDC</a:t>
            </a:r>
            <a:r>
              <a:rPr lang="zh-CN" altLang="en-US" b="1" dirty="0"/>
              <a:t>工作原理</a:t>
            </a:r>
            <a:r>
              <a:rPr lang="zh-CN" altLang="en-US" dirty="0"/>
              <a:t>：电机工作时，线圈和换向器旋转，磁钢和碳刷不转，线圈电流方向的交替变化是随电机转动的换相器和电刷来完成的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E54BB85-F9EC-457E-8378-1493D92803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200" y="3203309"/>
            <a:ext cx="3256382" cy="3256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021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44DAE1-E9A5-4192-82C2-FB66F42CA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097" y="577565"/>
            <a:ext cx="2146430" cy="6010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EE9CDB90-D293-43F8-896A-1152512083C6}"/>
              </a:ext>
            </a:extLst>
          </p:cNvPr>
          <p:cNvSpPr txBox="1">
            <a:spLocks noChangeArrowheads="1"/>
          </p:cNvSpPr>
          <p:nvPr/>
        </p:nvSpPr>
        <p:spPr>
          <a:xfrm>
            <a:off x="662473" y="310202"/>
            <a:ext cx="7347007" cy="8683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电机组成和原理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084D090-18BB-4A7D-97B8-EBDDAAF133D6}"/>
              </a:ext>
            </a:extLst>
          </p:cNvPr>
          <p:cNvCxnSpPr>
            <a:cxnSpLocks/>
          </p:cNvCxnSpPr>
          <p:nvPr/>
        </p:nvCxnSpPr>
        <p:spPr>
          <a:xfrm>
            <a:off x="205273" y="1287624"/>
            <a:ext cx="87334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BD5EAB2E-B992-4336-ABF0-52FAFA632427}"/>
              </a:ext>
            </a:extLst>
          </p:cNvPr>
          <p:cNvSpPr txBox="1"/>
          <p:nvPr/>
        </p:nvSpPr>
        <p:spPr>
          <a:xfrm>
            <a:off x="538360" y="1515355"/>
            <a:ext cx="7471120" cy="96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步进电机工作原理：</a:t>
            </a:r>
            <a:r>
              <a:rPr lang="zh-CN" altLang="en-US" sz="2000" dirty="0"/>
              <a:t>通过改变不同线圈的电流方向，来使定子磁极对转子永磁体磁极相互吸引来完成电机旋转</a:t>
            </a:r>
            <a:r>
              <a:rPr lang="zh-CN" altLang="en-US" sz="2000" b="1" dirty="0"/>
              <a:t>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EC43C40-DC04-4A5A-A159-F91BB200D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1120" y="3356907"/>
            <a:ext cx="4050495" cy="179604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7452C94-C275-4A68-9C98-746D679966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795" y="3588235"/>
            <a:ext cx="3743325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406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44DAE1-E9A5-4192-82C2-FB66F42CA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097" y="577565"/>
            <a:ext cx="2146430" cy="6010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EE9CDB90-D293-43F8-896A-1152512083C6}"/>
              </a:ext>
            </a:extLst>
          </p:cNvPr>
          <p:cNvSpPr txBox="1">
            <a:spLocks noChangeArrowheads="1"/>
          </p:cNvSpPr>
          <p:nvPr/>
        </p:nvSpPr>
        <p:spPr>
          <a:xfrm>
            <a:off x="662473" y="310202"/>
            <a:ext cx="7347007" cy="8683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电机组成和原理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084D090-18BB-4A7D-97B8-EBDDAAF133D6}"/>
              </a:ext>
            </a:extLst>
          </p:cNvPr>
          <p:cNvCxnSpPr>
            <a:cxnSpLocks/>
          </p:cNvCxnSpPr>
          <p:nvPr/>
        </p:nvCxnSpPr>
        <p:spPr>
          <a:xfrm>
            <a:off x="205273" y="1287624"/>
            <a:ext cx="87334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BD5EAB2E-B992-4336-ABF0-52FAFA632427}"/>
              </a:ext>
            </a:extLst>
          </p:cNvPr>
          <p:cNvSpPr txBox="1"/>
          <p:nvPr/>
        </p:nvSpPr>
        <p:spPr>
          <a:xfrm>
            <a:off x="538360" y="1515355"/>
            <a:ext cx="7471120" cy="1758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交流感应电机工作原理：</a:t>
            </a:r>
            <a:r>
              <a:rPr lang="zh-CN" altLang="en-US" dirty="0"/>
              <a:t>通过定子产生的旋转磁场与转子绕组的相对运动，转子绕组切割磁感线产生感应电动势，从而使转子绕组中产生感应电流。转子绕组中的感应电流与磁场作用，产生电磁转矩，使转子旋转。</a:t>
            </a:r>
            <a:endParaRPr lang="zh-CN" altLang="en-US" sz="2000" b="1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1FE5D98-5737-49AC-859A-BCC0823B07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916" y="2982889"/>
            <a:ext cx="5261542" cy="356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224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44DAE1-E9A5-4192-82C2-FB66F42CA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097" y="577565"/>
            <a:ext cx="2146430" cy="6010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EE9CDB90-D293-43F8-896A-1152512083C6}"/>
              </a:ext>
            </a:extLst>
          </p:cNvPr>
          <p:cNvSpPr txBox="1">
            <a:spLocks noChangeArrowheads="1"/>
          </p:cNvSpPr>
          <p:nvPr/>
        </p:nvSpPr>
        <p:spPr>
          <a:xfrm>
            <a:off x="662473" y="310202"/>
            <a:ext cx="7347007" cy="8683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电机组成和原理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084D090-18BB-4A7D-97B8-EBDDAAF133D6}"/>
              </a:ext>
            </a:extLst>
          </p:cNvPr>
          <p:cNvCxnSpPr>
            <a:cxnSpLocks/>
          </p:cNvCxnSpPr>
          <p:nvPr/>
        </p:nvCxnSpPr>
        <p:spPr>
          <a:xfrm>
            <a:off x="205273" y="1287624"/>
            <a:ext cx="87334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BD5EAB2E-B992-4336-ABF0-52FAFA632427}"/>
              </a:ext>
            </a:extLst>
          </p:cNvPr>
          <p:cNvSpPr txBox="1"/>
          <p:nvPr/>
        </p:nvSpPr>
        <p:spPr>
          <a:xfrm>
            <a:off x="836440" y="1515355"/>
            <a:ext cx="7471120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BLDC</a:t>
            </a:r>
            <a:r>
              <a:rPr lang="zh-CN" altLang="en-US" sz="2000" b="1" dirty="0"/>
              <a:t>工作原理：</a:t>
            </a:r>
            <a:r>
              <a:rPr lang="zh-CN" altLang="en-US" sz="2000" dirty="0"/>
              <a:t>三相线圈通过位置信息按照固定的顺序导通（六步方波控制），达到正（逆）方向拉动转子永磁体运动 也可以控制</a:t>
            </a:r>
            <a:r>
              <a:rPr lang="en-US" altLang="zh-CN" sz="2000" dirty="0"/>
              <a:t>PMSM</a:t>
            </a:r>
            <a:endParaRPr lang="zh-CN" altLang="en-US" sz="20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3B1AC71-9890-40A6-B0AF-0A6C4DFBBF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3670" y="2711683"/>
            <a:ext cx="4192444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570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44DAE1-E9A5-4192-82C2-FB66F42CA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097" y="577565"/>
            <a:ext cx="2146430" cy="6010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EE9CDB90-D293-43F8-896A-1152512083C6}"/>
              </a:ext>
            </a:extLst>
          </p:cNvPr>
          <p:cNvSpPr txBox="1">
            <a:spLocks noChangeArrowheads="1"/>
          </p:cNvSpPr>
          <p:nvPr/>
        </p:nvSpPr>
        <p:spPr>
          <a:xfrm>
            <a:off x="662473" y="310202"/>
            <a:ext cx="7347007" cy="8683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电机组成和原理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084D090-18BB-4A7D-97B8-EBDDAAF133D6}"/>
              </a:ext>
            </a:extLst>
          </p:cNvPr>
          <p:cNvCxnSpPr>
            <a:cxnSpLocks/>
          </p:cNvCxnSpPr>
          <p:nvPr/>
        </p:nvCxnSpPr>
        <p:spPr>
          <a:xfrm>
            <a:off x="205273" y="1287624"/>
            <a:ext cx="87334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BD5EAB2E-B992-4336-ABF0-52FAFA632427}"/>
              </a:ext>
            </a:extLst>
          </p:cNvPr>
          <p:cNvSpPr txBox="1"/>
          <p:nvPr/>
        </p:nvSpPr>
        <p:spPr>
          <a:xfrm>
            <a:off x="662473" y="1496323"/>
            <a:ext cx="7471120" cy="506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FOC</a:t>
            </a:r>
            <a:r>
              <a:rPr lang="zh-CN" altLang="en-US" sz="2000" b="1" dirty="0"/>
              <a:t>工作原理：</a:t>
            </a:r>
            <a:r>
              <a:rPr lang="zh-CN" altLang="en-US" sz="2000" dirty="0"/>
              <a:t>定向磁场控制 也可以控制</a:t>
            </a:r>
            <a:r>
              <a:rPr lang="en-US" altLang="zh-CN" sz="2000" dirty="0"/>
              <a:t>BLDC</a:t>
            </a:r>
            <a:endParaRPr lang="zh-CN" altLang="en-US" sz="20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AE9D80E-BABC-47C7-848D-4F9860AE3D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21" y="2545125"/>
            <a:ext cx="7865706" cy="349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848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44DAE1-E9A5-4192-82C2-FB66F42CA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097" y="577565"/>
            <a:ext cx="2146430" cy="6010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EE9CDB90-D293-43F8-896A-1152512083C6}"/>
              </a:ext>
            </a:extLst>
          </p:cNvPr>
          <p:cNvSpPr txBox="1">
            <a:spLocks noChangeArrowheads="1"/>
          </p:cNvSpPr>
          <p:nvPr/>
        </p:nvSpPr>
        <p:spPr>
          <a:xfrm>
            <a:off x="662473" y="310202"/>
            <a:ext cx="7347007" cy="8683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电机控制系统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084D090-18BB-4A7D-97B8-EBDDAAF133D6}"/>
              </a:ext>
            </a:extLst>
          </p:cNvPr>
          <p:cNvCxnSpPr>
            <a:cxnSpLocks/>
          </p:cNvCxnSpPr>
          <p:nvPr/>
        </p:nvCxnSpPr>
        <p:spPr>
          <a:xfrm>
            <a:off x="205273" y="1287624"/>
            <a:ext cx="87334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0D541B98-1780-4279-9CFC-D10879BB3F8A}"/>
              </a:ext>
            </a:extLst>
          </p:cNvPr>
          <p:cNvSpPr txBox="1"/>
          <p:nvPr/>
        </p:nvSpPr>
        <p:spPr>
          <a:xfrm>
            <a:off x="662472" y="1679509"/>
            <a:ext cx="27618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BDC </a:t>
            </a:r>
            <a:r>
              <a:rPr lang="zh-CN" altLang="en-US" sz="2000" b="1" dirty="0"/>
              <a:t>电机高端控制电路：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38750E3-E2AC-451A-B600-CA53D007B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5279" y="2063524"/>
            <a:ext cx="4714291" cy="421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87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44DAE1-E9A5-4192-82C2-FB66F42CA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097" y="577565"/>
            <a:ext cx="2146430" cy="6010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EE9CDB90-D293-43F8-896A-1152512083C6}"/>
              </a:ext>
            </a:extLst>
          </p:cNvPr>
          <p:cNvSpPr txBox="1">
            <a:spLocks noChangeArrowheads="1"/>
          </p:cNvSpPr>
          <p:nvPr/>
        </p:nvSpPr>
        <p:spPr>
          <a:xfrm>
            <a:off x="662473" y="310202"/>
            <a:ext cx="7347007" cy="8683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电机控制系统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084D090-18BB-4A7D-97B8-EBDDAAF133D6}"/>
              </a:ext>
            </a:extLst>
          </p:cNvPr>
          <p:cNvCxnSpPr>
            <a:cxnSpLocks/>
          </p:cNvCxnSpPr>
          <p:nvPr/>
        </p:nvCxnSpPr>
        <p:spPr>
          <a:xfrm>
            <a:off x="205273" y="1287624"/>
            <a:ext cx="87334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0D541B98-1780-4279-9CFC-D10879BB3F8A}"/>
              </a:ext>
            </a:extLst>
          </p:cNvPr>
          <p:cNvSpPr txBox="1"/>
          <p:nvPr/>
        </p:nvSpPr>
        <p:spPr>
          <a:xfrm>
            <a:off x="662472" y="1651529"/>
            <a:ext cx="3088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BDC </a:t>
            </a:r>
            <a:r>
              <a:rPr lang="zh-CN" altLang="en-US" sz="2000" b="1" dirty="0"/>
              <a:t>电机正反向控制电路</a:t>
            </a:r>
            <a:r>
              <a:rPr lang="zh-CN" altLang="en-US" dirty="0"/>
              <a:t>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849E1EE-7B1E-456E-B4AF-A80D39463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72" y="2440728"/>
            <a:ext cx="7995812" cy="3312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927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44DAE1-E9A5-4192-82C2-FB66F42CA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097" y="577565"/>
            <a:ext cx="2146430" cy="6010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EE9CDB90-D293-43F8-896A-1152512083C6}"/>
              </a:ext>
            </a:extLst>
          </p:cNvPr>
          <p:cNvSpPr txBox="1">
            <a:spLocks noChangeArrowheads="1"/>
          </p:cNvSpPr>
          <p:nvPr/>
        </p:nvSpPr>
        <p:spPr>
          <a:xfrm>
            <a:off x="662473" y="310202"/>
            <a:ext cx="7347007" cy="8683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电机控制系统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084D090-18BB-4A7D-97B8-EBDDAAF133D6}"/>
              </a:ext>
            </a:extLst>
          </p:cNvPr>
          <p:cNvCxnSpPr>
            <a:cxnSpLocks/>
          </p:cNvCxnSpPr>
          <p:nvPr/>
        </p:nvCxnSpPr>
        <p:spPr>
          <a:xfrm>
            <a:off x="205273" y="1287624"/>
            <a:ext cx="87334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0D541B98-1780-4279-9CFC-D10879BB3F8A}"/>
              </a:ext>
            </a:extLst>
          </p:cNvPr>
          <p:cNvSpPr txBox="1"/>
          <p:nvPr/>
        </p:nvSpPr>
        <p:spPr>
          <a:xfrm>
            <a:off x="662472" y="1651529"/>
            <a:ext cx="3088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AICM</a:t>
            </a:r>
            <a:r>
              <a:rPr lang="zh-CN" altLang="en-US" sz="2000" b="1" dirty="0"/>
              <a:t>电机制电路</a:t>
            </a:r>
            <a:r>
              <a:rPr lang="zh-CN" altLang="en-US" dirty="0"/>
              <a:t>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15AF8F8-DB78-479C-94C8-5C04FFF84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7298" y="2079273"/>
            <a:ext cx="4840450" cy="193406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D366081-88A4-40A2-A433-D03169F51E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7298" y="3919380"/>
            <a:ext cx="5710335" cy="2635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379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44DAE1-E9A5-4192-82C2-FB66F42CA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097" y="577565"/>
            <a:ext cx="2146430" cy="6010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EE9CDB90-D293-43F8-896A-1152512083C6}"/>
              </a:ext>
            </a:extLst>
          </p:cNvPr>
          <p:cNvSpPr txBox="1">
            <a:spLocks noChangeArrowheads="1"/>
          </p:cNvSpPr>
          <p:nvPr/>
        </p:nvSpPr>
        <p:spPr>
          <a:xfrm>
            <a:off x="662473" y="310202"/>
            <a:ext cx="7347007" cy="8683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电机控制系统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084D090-18BB-4A7D-97B8-EBDDAAF133D6}"/>
              </a:ext>
            </a:extLst>
          </p:cNvPr>
          <p:cNvCxnSpPr>
            <a:cxnSpLocks/>
          </p:cNvCxnSpPr>
          <p:nvPr/>
        </p:nvCxnSpPr>
        <p:spPr>
          <a:xfrm>
            <a:off x="205273" y="1287624"/>
            <a:ext cx="87334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0D541B98-1780-4279-9CFC-D10879BB3F8A}"/>
              </a:ext>
            </a:extLst>
          </p:cNvPr>
          <p:cNvSpPr txBox="1"/>
          <p:nvPr/>
        </p:nvSpPr>
        <p:spPr>
          <a:xfrm>
            <a:off x="662472" y="1651529"/>
            <a:ext cx="3088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步进电机制电路</a:t>
            </a:r>
            <a:r>
              <a:rPr lang="zh-CN" altLang="en-US" dirty="0"/>
              <a:t>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E8124D4-7328-425C-8AB3-ACF9FAE1A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861" y="2110566"/>
            <a:ext cx="4565973" cy="399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747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44DAE1-E9A5-4192-82C2-FB66F42CA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097" y="577565"/>
            <a:ext cx="2146430" cy="6010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EE9CDB90-D293-43F8-896A-1152512083C6}"/>
              </a:ext>
            </a:extLst>
          </p:cNvPr>
          <p:cNvSpPr txBox="1">
            <a:spLocks noChangeArrowheads="1"/>
          </p:cNvSpPr>
          <p:nvPr/>
        </p:nvSpPr>
        <p:spPr>
          <a:xfrm>
            <a:off x="662473" y="310202"/>
            <a:ext cx="7347007" cy="8683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电机控制系统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084D090-18BB-4A7D-97B8-EBDDAAF133D6}"/>
              </a:ext>
            </a:extLst>
          </p:cNvPr>
          <p:cNvCxnSpPr>
            <a:cxnSpLocks/>
          </p:cNvCxnSpPr>
          <p:nvPr/>
        </p:nvCxnSpPr>
        <p:spPr>
          <a:xfrm>
            <a:off x="205273" y="1287624"/>
            <a:ext cx="87334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0D541B98-1780-4279-9CFC-D10879BB3F8A}"/>
              </a:ext>
            </a:extLst>
          </p:cNvPr>
          <p:cNvSpPr txBox="1"/>
          <p:nvPr/>
        </p:nvSpPr>
        <p:spPr>
          <a:xfrm>
            <a:off x="662473" y="1644073"/>
            <a:ext cx="30884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BLDC</a:t>
            </a:r>
            <a:r>
              <a:rPr lang="zh-CN" altLang="en-US" sz="2000" b="1" dirty="0"/>
              <a:t>直流无刷电机控制电路</a:t>
            </a:r>
            <a:r>
              <a:rPr lang="zh-CN" altLang="en-US" dirty="0"/>
              <a:t>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466FE46-FFF5-4D9D-BB1F-08EA5840A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420" y="1998016"/>
            <a:ext cx="5108277" cy="383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317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44DAE1-E9A5-4192-82C2-FB66F42CA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097" y="577565"/>
            <a:ext cx="2146430" cy="6010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EE9CDB90-D293-43F8-896A-1152512083C6}"/>
              </a:ext>
            </a:extLst>
          </p:cNvPr>
          <p:cNvSpPr txBox="1">
            <a:spLocks noChangeArrowheads="1"/>
          </p:cNvSpPr>
          <p:nvPr/>
        </p:nvSpPr>
        <p:spPr>
          <a:xfrm>
            <a:off x="662473" y="310202"/>
            <a:ext cx="7347007" cy="8683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电机控制系统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084D090-18BB-4A7D-97B8-EBDDAAF133D6}"/>
              </a:ext>
            </a:extLst>
          </p:cNvPr>
          <p:cNvCxnSpPr>
            <a:cxnSpLocks/>
          </p:cNvCxnSpPr>
          <p:nvPr/>
        </p:nvCxnSpPr>
        <p:spPr>
          <a:xfrm>
            <a:off x="205273" y="1287624"/>
            <a:ext cx="87334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0D541B98-1780-4279-9CFC-D10879BB3F8A}"/>
              </a:ext>
            </a:extLst>
          </p:cNvPr>
          <p:cNvSpPr txBox="1"/>
          <p:nvPr/>
        </p:nvSpPr>
        <p:spPr>
          <a:xfrm>
            <a:off x="662472" y="1644073"/>
            <a:ext cx="43107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PMSM </a:t>
            </a:r>
            <a:r>
              <a:rPr lang="zh-CN" altLang="en-US" sz="2000" b="1" dirty="0"/>
              <a:t>永磁同步电机控制电路</a:t>
            </a:r>
            <a:r>
              <a:rPr lang="zh-CN" altLang="en-US" dirty="0"/>
              <a:t>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466FE46-FFF5-4D9D-BB1F-08EA5840A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420" y="1998016"/>
            <a:ext cx="5108277" cy="383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929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44DAE1-E9A5-4192-82C2-FB66F42CA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097" y="577565"/>
            <a:ext cx="2146430" cy="6010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EE9CDB90-D293-43F8-896A-1152512083C6}"/>
              </a:ext>
            </a:extLst>
          </p:cNvPr>
          <p:cNvSpPr txBox="1">
            <a:spLocks noChangeArrowheads="1"/>
          </p:cNvSpPr>
          <p:nvPr/>
        </p:nvSpPr>
        <p:spPr>
          <a:xfrm>
            <a:off x="662473" y="310202"/>
            <a:ext cx="7347007" cy="8683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电机控制使用相关器件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084D090-18BB-4A7D-97B8-EBDDAAF133D6}"/>
              </a:ext>
            </a:extLst>
          </p:cNvPr>
          <p:cNvCxnSpPr>
            <a:cxnSpLocks/>
          </p:cNvCxnSpPr>
          <p:nvPr/>
        </p:nvCxnSpPr>
        <p:spPr>
          <a:xfrm>
            <a:off x="205273" y="1287624"/>
            <a:ext cx="87334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FCD9957-B782-4A79-B6FD-04A3C390CBC1}"/>
              </a:ext>
            </a:extLst>
          </p:cNvPr>
          <p:cNvSpPr txBox="1"/>
          <p:nvPr/>
        </p:nvSpPr>
        <p:spPr>
          <a:xfrm>
            <a:off x="1194318" y="1870793"/>
            <a:ext cx="692712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电机控制使用相关模块：大致分为</a:t>
            </a:r>
            <a:r>
              <a:rPr lang="en-US" altLang="zh-CN" dirty="0"/>
              <a:t>6</a:t>
            </a:r>
            <a:r>
              <a:rPr lang="zh-CN" altLang="en-US" dirty="0"/>
              <a:t>类。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）电源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MCU(</a:t>
            </a:r>
            <a:r>
              <a:rPr lang="zh-CN" altLang="en-US" dirty="0"/>
              <a:t>主控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）预驱动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）功率器件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）放大器、比较器、</a:t>
            </a:r>
            <a:r>
              <a:rPr lang="en-US" altLang="zh-CN" dirty="0"/>
              <a:t>ADC</a:t>
            </a:r>
            <a:r>
              <a:rPr lang="zh-CN" altLang="en-US" dirty="0"/>
              <a:t>、</a:t>
            </a:r>
            <a:endParaRPr lang="en-US" altLang="zh-CN" dirty="0"/>
          </a:p>
          <a:p>
            <a:r>
              <a:rPr lang="en-US" altLang="zh-CN" dirty="0"/>
              <a:t>           </a:t>
            </a:r>
            <a:r>
              <a:rPr lang="zh-CN" altLang="en-US" dirty="0"/>
              <a:t>电流传感器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6</a:t>
            </a:r>
            <a:r>
              <a:rPr lang="zh-CN" altLang="en-US" dirty="0"/>
              <a:t>）通信模块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7C9B110-A836-4BB6-833D-96C1C3D95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0701" y="2291581"/>
            <a:ext cx="4488025" cy="3251701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5C18C9A-07E1-4EF8-80E3-7882D9FCE018}"/>
              </a:ext>
            </a:extLst>
          </p:cNvPr>
          <p:cNvCxnSpPr>
            <a:cxnSpLocks/>
          </p:cNvCxnSpPr>
          <p:nvPr/>
        </p:nvCxnSpPr>
        <p:spPr>
          <a:xfrm flipH="1">
            <a:off x="6755364" y="1885362"/>
            <a:ext cx="611058" cy="7018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A317183-A4F7-45AA-BEC1-40F9E3E66B0C}"/>
              </a:ext>
            </a:extLst>
          </p:cNvPr>
          <p:cNvSpPr/>
          <p:nvPr/>
        </p:nvSpPr>
        <p:spPr>
          <a:xfrm>
            <a:off x="5938083" y="2407298"/>
            <a:ext cx="2711395" cy="49318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FBEDF5D-825C-4584-8812-17A441D099CC}"/>
              </a:ext>
            </a:extLst>
          </p:cNvPr>
          <p:cNvSpPr txBox="1"/>
          <p:nvPr/>
        </p:nvSpPr>
        <p:spPr>
          <a:xfrm>
            <a:off x="7295312" y="1648383"/>
            <a:ext cx="802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电源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98E8B17-8792-425C-8FD4-AD8B3504B855}"/>
              </a:ext>
            </a:extLst>
          </p:cNvPr>
          <p:cNvSpPr/>
          <p:nvPr/>
        </p:nvSpPr>
        <p:spPr>
          <a:xfrm>
            <a:off x="7268546" y="3097763"/>
            <a:ext cx="412414" cy="142851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6415595-7B6B-4CE5-A31B-AF4ED40A5CD8}"/>
              </a:ext>
            </a:extLst>
          </p:cNvPr>
          <p:cNvSpPr txBox="1"/>
          <p:nvPr/>
        </p:nvSpPr>
        <p:spPr>
          <a:xfrm>
            <a:off x="7172660" y="5637536"/>
            <a:ext cx="708240" cy="275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预驱动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BD5E2D12-4841-4DFF-A05D-E243F1EAC619}"/>
              </a:ext>
            </a:extLst>
          </p:cNvPr>
          <p:cNvCxnSpPr>
            <a:cxnSpLocks/>
            <a:endCxn id="17" idx="2"/>
          </p:cNvCxnSpPr>
          <p:nvPr/>
        </p:nvCxnSpPr>
        <p:spPr>
          <a:xfrm flipV="1">
            <a:off x="7474753" y="4526280"/>
            <a:ext cx="0" cy="10928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0A2CEC3-964B-4FC9-8172-BA33E92601E3}"/>
              </a:ext>
            </a:extLst>
          </p:cNvPr>
          <p:cNvSpPr/>
          <p:nvPr/>
        </p:nvSpPr>
        <p:spPr>
          <a:xfrm>
            <a:off x="8087869" y="2970046"/>
            <a:ext cx="526711" cy="229537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02A64D79-1DE6-4269-AAB7-D7A765172579}"/>
              </a:ext>
            </a:extLst>
          </p:cNvPr>
          <p:cNvCxnSpPr>
            <a:cxnSpLocks/>
          </p:cNvCxnSpPr>
          <p:nvPr/>
        </p:nvCxnSpPr>
        <p:spPr>
          <a:xfrm flipV="1">
            <a:off x="8300525" y="5055223"/>
            <a:ext cx="0" cy="6037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66F947AA-70DD-4288-B448-477C8CC16185}"/>
              </a:ext>
            </a:extLst>
          </p:cNvPr>
          <p:cNvSpPr txBox="1"/>
          <p:nvPr/>
        </p:nvSpPr>
        <p:spPr>
          <a:xfrm>
            <a:off x="7870754" y="5633728"/>
            <a:ext cx="9989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功率器件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41A7EE6D-A440-48D2-9920-1F211A4DF7C0}"/>
              </a:ext>
            </a:extLst>
          </p:cNvPr>
          <p:cNvSpPr/>
          <p:nvPr/>
        </p:nvSpPr>
        <p:spPr>
          <a:xfrm>
            <a:off x="6600987" y="3321267"/>
            <a:ext cx="412414" cy="51921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106F14F9-0E47-4550-AA00-A61886A8F395}"/>
              </a:ext>
            </a:extLst>
          </p:cNvPr>
          <p:cNvCxnSpPr>
            <a:cxnSpLocks/>
            <a:endCxn id="30" idx="2"/>
          </p:cNvCxnSpPr>
          <p:nvPr/>
        </p:nvCxnSpPr>
        <p:spPr>
          <a:xfrm flipH="1" flipV="1">
            <a:off x="6807194" y="3840481"/>
            <a:ext cx="29359" cy="17932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A9C56BF9-E6E2-458A-AA8B-1CE8CA47F294}"/>
              </a:ext>
            </a:extLst>
          </p:cNvPr>
          <p:cNvSpPr txBox="1"/>
          <p:nvPr/>
        </p:nvSpPr>
        <p:spPr>
          <a:xfrm>
            <a:off x="6503008" y="5649334"/>
            <a:ext cx="708240" cy="275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放大器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968BF2FC-DB38-4C12-9C82-14E6C05FD281}"/>
              </a:ext>
            </a:extLst>
          </p:cNvPr>
          <p:cNvSpPr/>
          <p:nvPr/>
        </p:nvSpPr>
        <p:spPr>
          <a:xfrm>
            <a:off x="5454158" y="3717452"/>
            <a:ext cx="1048850" cy="103234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4F09F0B5-B43E-4769-A767-BEE452B53BF2}"/>
              </a:ext>
            </a:extLst>
          </p:cNvPr>
          <p:cNvCxnSpPr>
            <a:cxnSpLocks/>
          </p:cNvCxnSpPr>
          <p:nvPr/>
        </p:nvCxnSpPr>
        <p:spPr>
          <a:xfrm flipV="1">
            <a:off x="5989915" y="4579789"/>
            <a:ext cx="0" cy="10393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C3C097C6-45C4-48D2-B419-EB47726A55F9}"/>
              </a:ext>
            </a:extLst>
          </p:cNvPr>
          <p:cNvSpPr txBox="1"/>
          <p:nvPr/>
        </p:nvSpPr>
        <p:spPr>
          <a:xfrm>
            <a:off x="5783337" y="5643508"/>
            <a:ext cx="504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MCU</a:t>
            </a:r>
            <a:endParaRPr lang="zh-CN" altLang="en-US" sz="1200" dirty="0"/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4EB014B5-BEBC-46A8-86CE-8A22069B61D8}"/>
              </a:ext>
            </a:extLst>
          </p:cNvPr>
          <p:cNvSpPr/>
          <p:nvPr/>
        </p:nvSpPr>
        <p:spPr>
          <a:xfrm>
            <a:off x="4554183" y="2393520"/>
            <a:ext cx="1204822" cy="123348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F414884C-AD4C-4AA8-B413-8412797262CB}"/>
              </a:ext>
            </a:extLst>
          </p:cNvPr>
          <p:cNvCxnSpPr>
            <a:cxnSpLocks/>
          </p:cNvCxnSpPr>
          <p:nvPr/>
        </p:nvCxnSpPr>
        <p:spPr>
          <a:xfrm flipH="1">
            <a:off x="5037777" y="1919810"/>
            <a:ext cx="611058" cy="7018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E9F4B48E-1A29-45E2-89E3-A2FB26194DE1}"/>
              </a:ext>
            </a:extLst>
          </p:cNvPr>
          <p:cNvSpPr txBox="1"/>
          <p:nvPr/>
        </p:nvSpPr>
        <p:spPr>
          <a:xfrm>
            <a:off x="5580621" y="1677246"/>
            <a:ext cx="504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通信</a:t>
            </a:r>
          </a:p>
        </p:txBody>
      </p:sp>
    </p:spTree>
    <p:extLst>
      <p:ext uri="{BB962C8B-B14F-4D97-AF65-F5344CB8AC3E}">
        <p14:creationId xmlns:p14="http://schemas.microsoft.com/office/powerpoint/2010/main" val="412380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/>
      <p:bldP spid="17" grpId="0" animBg="1"/>
      <p:bldP spid="18" grpId="0"/>
      <p:bldP spid="23" grpId="0" animBg="1"/>
      <p:bldP spid="28" grpId="0"/>
      <p:bldP spid="30" grpId="0" animBg="1"/>
      <p:bldP spid="35" grpId="0"/>
      <p:bldP spid="36" grpId="0" animBg="1"/>
      <p:bldP spid="40" grpId="0"/>
      <p:bldP spid="41" grpId="0" animBg="1"/>
      <p:bldP spid="4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44DAE1-E9A5-4192-82C2-FB66F42CA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097" y="577565"/>
            <a:ext cx="2146430" cy="6010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EE9CDB90-D293-43F8-896A-1152512083C6}"/>
              </a:ext>
            </a:extLst>
          </p:cNvPr>
          <p:cNvSpPr txBox="1">
            <a:spLocks noChangeArrowheads="1"/>
          </p:cNvSpPr>
          <p:nvPr/>
        </p:nvSpPr>
        <p:spPr>
          <a:xfrm>
            <a:off x="338380" y="310202"/>
            <a:ext cx="7347007" cy="8683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电机控制使用相关器件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084D090-18BB-4A7D-97B8-EBDDAAF133D6}"/>
              </a:ext>
            </a:extLst>
          </p:cNvPr>
          <p:cNvCxnSpPr>
            <a:cxnSpLocks/>
          </p:cNvCxnSpPr>
          <p:nvPr/>
        </p:nvCxnSpPr>
        <p:spPr>
          <a:xfrm>
            <a:off x="205273" y="1287624"/>
            <a:ext cx="87334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BE05557D-60F0-4DF3-B91E-7A1E3F324D6F}"/>
              </a:ext>
            </a:extLst>
          </p:cNvPr>
          <p:cNvSpPr txBox="1"/>
          <p:nvPr/>
        </p:nvSpPr>
        <p:spPr>
          <a:xfrm>
            <a:off x="1129788" y="1479121"/>
            <a:ext cx="641237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电源：</a:t>
            </a:r>
            <a:endParaRPr lang="en-US" altLang="zh-CN" dirty="0"/>
          </a:p>
          <a:p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AC-DC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 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）隔离（通过变压器来降压）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）非隔离 （需要专业的控制芯片）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  </a:t>
            </a:r>
            <a:r>
              <a:rPr lang="zh-CN" altLang="en-US" dirty="0"/>
              <a:t>作用：提供母线电压 系统输入的电源。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DC-DC</a:t>
            </a:r>
          </a:p>
          <a:p>
            <a:r>
              <a:rPr lang="zh-CN" altLang="en-US" dirty="0"/>
              <a:t>       降压、升压电路（</a:t>
            </a:r>
            <a:r>
              <a:rPr lang="en-US" altLang="zh-CN" dirty="0"/>
              <a:t>BUCK </a:t>
            </a:r>
            <a:r>
              <a:rPr lang="zh-CN" altLang="en-US" dirty="0"/>
              <a:t>和</a:t>
            </a:r>
            <a:r>
              <a:rPr lang="en-US" altLang="zh-CN" dirty="0"/>
              <a:t>Boost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       功耗低 但是电路复杂</a:t>
            </a:r>
            <a:endParaRPr lang="en-US" altLang="zh-CN" dirty="0"/>
          </a:p>
          <a:p>
            <a:r>
              <a:rPr lang="zh-CN" altLang="en-US" dirty="0"/>
              <a:t>       作用：提供预驱动电源电压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LDO</a:t>
            </a:r>
          </a:p>
          <a:p>
            <a:r>
              <a:rPr lang="en-US" altLang="zh-CN" dirty="0"/>
              <a:t>       </a:t>
            </a:r>
            <a:r>
              <a:rPr lang="zh-CN" altLang="en-US" dirty="0"/>
              <a:t>线性降压 功耗高 但是稳定电路简单。</a:t>
            </a:r>
            <a:endParaRPr lang="en-US" altLang="zh-CN" dirty="0"/>
          </a:p>
          <a:p>
            <a:r>
              <a:rPr lang="en-US" altLang="zh-CN" dirty="0"/>
              <a:t>       </a:t>
            </a:r>
            <a:r>
              <a:rPr lang="zh-CN" altLang="en-US" dirty="0"/>
              <a:t>作用：为</a:t>
            </a:r>
            <a:r>
              <a:rPr lang="en-US" altLang="zh-CN" dirty="0"/>
              <a:t>MCU</a:t>
            </a:r>
            <a:r>
              <a:rPr lang="zh-CN" altLang="en-US" dirty="0"/>
              <a:t>和通信 放大器等器件供电</a:t>
            </a:r>
          </a:p>
        </p:txBody>
      </p:sp>
    </p:spTree>
    <p:extLst>
      <p:ext uri="{BB962C8B-B14F-4D97-AF65-F5344CB8AC3E}">
        <p14:creationId xmlns:p14="http://schemas.microsoft.com/office/powerpoint/2010/main" val="2366984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44DAE1-E9A5-4192-82C2-FB66F42CA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097" y="577565"/>
            <a:ext cx="2146430" cy="6010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EE9CDB90-D293-43F8-896A-1152512083C6}"/>
              </a:ext>
            </a:extLst>
          </p:cNvPr>
          <p:cNvSpPr txBox="1">
            <a:spLocks noChangeArrowheads="1"/>
          </p:cNvSpPr>
          <p:nvPr/>
        </p:nvSpPr>
        <p:spPr>
          <a:xfrm>
            <a:off x="338380" y="310202"/>
            <a:ext cx="7347007" cy="8683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电机控制使用相关器件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084D090-18BB-4A7D-97B8-EBDDAAF133D6}"/>
              </a:ext>
            </a:extLst>
          </p:cNvPr>
          <p:cNvCxnSpPr>
            <a:cxnSpLocks/>
          </p:cNvCxnSpPr>
          <p:nvPr/>
        </p:nvCxnSpPr>
        <p:spPr>
          <a:xfrm>
            <a:off x="205273" y="1287624"/>
            <a:ext cx="87334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BE05557D-60F0-4DF3-B91E-7A1E3F324D6F}"/>
              </a:ext>
            </a:extLst>
          </p:cNvPr>
          <p:cNvSpPr txBox="1"/>
          <p:nvPr/>
        </p:nvSpPr>
        <p:spPr>
          <a:xfrm>
            <a:off x="863925" y="1790089"/>
            <a:ext cx="8074802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MCU</a:t>
            </a:r>
            <a:r>
              <a:rPr lang="zh-CN" altLang="en-US" dirty="0"/>
              <a:t>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</a:t>
            </a:r>
            <a:r>
              <a:rPr lang="zh-CN" altLang="en-US" dirty="0"/>
              <a:t>作用：提供控制算法，系统保护用作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MCU8</a:t>
            </a:r>
            <a:r>
              <a:rPr lang="zh-CN" altLang="en-US" dirty="0"/>
              <a:t>：  可以控制</a:t>
            </a:r>
            <a:r>
              <a:rPr lang="en-US" altLang="zh-CN" dirty="0"/>
              <a:t>BDC</a:t>
            </a:r>
            <a:r>
              <a:rPr lang="zh-CN" altLang="en-US" dirty="0"/>
              <a:t>、</a:t>
            </a:r>
            <a:r>
              <a:rPr lang="en-US" altLang="zh-CN" dirty="0"/>
              <a:t>Stepper</a:t>
            </a:r>
            <a:r>
              <a:rPr lang="zh-CN" altLang="en-US" dirty="0"/>
              <a:t>、</a:t>
            </a:r>
            <a:r>
              <a:rPr lang="en-US" altLang="zh-CN" dirty="0"/>
              <a:t>BLDC</a:t>
            </a:r>
            <a:r>
              <a:rPr lang="zh-CN" altLang="en-US" dirty="0"/>
              <a:t>、</a:t>
            </a:r>
            <a:r>
              <a:rPr lang="en-US" altLang="zh-CN" dirty="0"/>
              <a:t> AICM 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MCU16</a:t>
            </a:r>
            <a:r>
              <a:rPr lang="zh-CN" altLang="en-US" dirty="0"/>
              <a:t>：可以控制</a:t>
            </a:r>
            <a:r>
              <a:rPr lang="en-US" altLang="zh-CN" dirty="0"/>
              <a:t>BDC</a:t>
            </a:r>
            <a:r>
              <a:rPr lang="zh-CN" altLang="en-US" dirty="0"/>
              <a:t>、</a:t>
            </a:r>
            <a:r>
              <a:rPr lang="en-US" altLang="zh-CN" dirty="0"/>
              <a:t>Stepper</a:t>
            </a:r>
            <a:r>
              <a:rPr lang="zh-CN" altLang="en-US" dirty="0"/>
              <a:t>、</a:t>
            </a:r>
            <a:r>
              <a:rPr lang="en-US" altLang="zh-CN" dirty="0"/>
              <a:t>BLDC</a:t>
            </a:r>
            <a:r>
              <a:rPr lang="zh-CN" altLang="en-US" dirty="0"/>
              <a:t>、</a:t>
            </a:r>
            <a:r>
              <a:rPr lang="en-US" altLang="zh-CN" dirty="0"/>
              <a:t>AICM</a:t>
            </a:r>
            <a:r>
              <a:rPr lang="zh-CN" altLang="en-US" dirty="0"/>
              <a:t>、</a:t>
            </a:r>
            <a:r>
              <a:rPr lang="en-US" altLang="zh-CN" dirty="0"/>
              <a:t>PMSM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MUC32</a:t>
            </a:r>
            <a:r>
              <a:rPr lang="zh-CN" altLang="en-US" dirty="0"/>
              <a:t>：  可以控制</a:t>
            </a:r>
            <a:r>
              <a:rPr lang="en-US" altLang="zh-CN" dirty="0"/>
              <a:t>BDC</a:t>
            </a:r>
            <a:r>
              <a:rPr lang="zh-CN" altLang="en-US" dirty="0"/>
              <a:t>、</a:t>
            </a:r>
            <a:r>
              <a:rPr lang="en-US" altLang="zh-CN" dirty="0"/>
              <a:t>Stepper</a:t>
            </a:r>
            <a:r>
              <a:rPr lang="zh-CN" altLang="en-US" dirty="0"/>
              <a:t>、</a:t>
            </a:r>
            <a:r>
              <a:rPr lang="en-US" altLang="zh-CN" dirty="0"/>
              <a:t>BLDC</a:t>
            </a:r>
            <a:r>
              <a:rPr lang="zh-CN" altLang="en-US" dirty="0"/>
              <a:t>、</a:t>
            </a:r>
            <a:r>
              <a:rPr lang="en-US" altLang="zh-CN" dirty="0"/>
              <a:t> AICM </a:t>
            </a:r>
            <a:r>
              <a:rPr lang="zh-CN" altLang="en-US" dirty="0"/>
              <a:t>、</a:t>
            </a:r>
            <a:r>
              <a:rPr lang="en-US" altLang="zh-CN" dirty="0"/>
              <a:t>PMSM</a:t>
            </a:r>
            <a:r>
              <a:rPr lang="zh-CN" altLang="en-US" dirty="0"/>
              <a:t>、伺服（</a:t>
            </a:r>
            <a:r>
              <a:rPr lang="en-US" altLang="zh-CN" dirty="0"/>
              <a:t>M4</a:t>
            </a:r>
            <a:r>
              <a:rPr lang="zh-CN" altLang="en-US" dirty="0"/>
              <a:t>）。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93247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44DAE1-E9A5-4192-82C2-FB66F42CA4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097" y="577565"/>
            <a:ext cx="2146430" cy="6010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EE9CDB90-D293-43F8-896A-1152512083C6}"/>
              </a:ext>
            </a:extLst>
          </p:cNvPr>
          <p:cNvSpPr txBox="1">
            <a:spLocks noChangeArrowheads="1"/>
          </p:cNvSpPr>
          <p:nvPr/>
        </p:nvSpPr>
        <p:spPr>
          <a:xfrm>
            <a:off x="338380" y="310202"/>
            <a:ext cx="7347007" cy="8683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电机控制使用相关器件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084D090-18BB-4A7D-97B8-EBDDAAF133D6}"/>
              </a:ext>
            </a:extLst>
          </p:cNvPr>
          <p:cNvCxnSpPr>
            <a:cxnSpLocks/>
          </p:cNvCxnSpPr>
          <p:nvPr/>
        </p:nvCxnSpPr>
        <p:spPr>
          <a:xfrm>
            <a:off x="205273" y="1287624"/>
            <a:ext cx="87334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2C01FB68-90F3-4297-B8AE-1251B0DBF0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546" y="2968516"/>
            <a:ext cx="5168514" cy="345943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D256AF3-ED08-4A48-A41E-C7A57D84CA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69" y="2659512"/>
            <a:ext cx="8980418" cy="388828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C080F7F-5B1E-44F9-BB86-D39FF4089168}"/>
              </a:ext>
            </a:extLst>
          </p:cNvPr>
          <p:cNvSpPr txBox="1"/>
          <p:nvPr/>
        </p:nvSpPr>
        <p:spPr>
          <a:xfrm>
            <a:off x="696285" y="1696165"/>
            <a:ext cx="80748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MOSFET Driver:</a:t>
            </a:r>
          </a:p>
          <a:p>
            <a:r>
              <a:rPr lang="en-US" altLang="zh-CN" dirty="0"/>
              <a:t>                 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）专用</a:t>
            </a:r>
            <a:r>
              <a:rPr lang="en-US" altLang="zh-CN" dirty="0"/>
              <a:t>MOSFET </a:t>
            </a:r>
            <a:r>
              <a:rPr lang="zh-CN" altLang="en-US" dirty="0"/>
              <a:t>驱动</a:t>
            </a:r>
            <a:endParaRPr lang="en-US" altLang="zh-CN" dirty="0"/>
          </a:p>
          <a:p>
            <a:r>
              <a:rPr lang="en-US" altLang="zh-CN" dirty="0"/>
              <a:t>                 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）三极管、和</a:t>
            </a:r>
            <a:r>
              <a:rPr lang="en-US" altLang="zh-CN" dirty="0"/>
              <a:t>IO</a:t>
            </a:r>
            <a:r>
              <a:rPr lang="zh-CN" altLang="en-US" dirty="0"/>
              <a:t>直接驱动（常用驱动低压半桥 </a:t>
            </a:r>
            <a:r>
              <a:rPr lang="en-US" altLang="zh-CN" dirty="0"/>
              <a:t>P+N</a:t>
            </a:r>
            <a:r>
              <a:rPr lang="zh-CN" altLang="en-US" dirty="0"/>
              <a:t>结构）。</a:t>
            </a:r>
            <a:endParaRPr lang="en-US" altLang="zh-CN" dirty="0"/>
          </a:p>
          <a:p>
            <a:r>
              <a:rPr lang="en-US" altLang="zh-CN" dirty="0"/>
              <a:t>    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8067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44DAE1-E9A5-4192-82C2-FB66F42CA4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097" y="577565"/>
            <a:ext cx="2146430" cy="6010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EE9CDB90-D293-43F8-896A-1152512083C6}"/>
              </a:ext>
            </a:extLst>
          </p:cNvPr>
          <p:cNvSpPr txBox="1">
            <a:spLocks noChangeArrowheads="1"/>
          </p:cNvSpPr>
          <p:nvPr/>
        </p:nvSpPr>
        <p:spPr>
          <a:xfrm>
            <a:off x="338380" y="310202"/>
            <a:ext cx="7347007" cy="8683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电机控制使用相关器件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084D090-18BB-4A7D-97B8-EBDDAAF133D6}"/>
              </a:ext>
            </a:extLst>
          </p:cNvPr>
          <p:cNvCxnSpPr>
            <a:cxnSpLocks/>
          </p:cNvCxnSpPr>
          <p:nvPr/>
        </p:nvCxnSpPr>
        <p:spPr>
          <a:xfrm>
            <a:off x="205273" y="1287624"/>
            <a:ext cx="87334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AE1FF5AB-54B5-4432-AF3F-E4EA17A6511A}"/>
              </a:ext>
            </a:extLst>
          </p:cNvPr>
          <p:cNvSpPr txBox="1"/>
          <p:nvPr/>
        </p:nvSpPr>
        <p:spPr>
          <a:xfrm>
            <a:off x="540406" y="1396684"/>
            <a:ext cx="807480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功率器件</a:t>
            </a:r>
            <a:r>
              <a:rPr lang="en-US" altLang="zh-CN" dirty="0"/>
              <a:t>: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             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 </a:t>
            </a:r>
            <a:r>
              <a:rPr lang="en-US" altLang="zh-CN" dirty="0"/>
              <a:t>MOSFET</a:t>
            </a:r>
            <a:r>
              <a:rPr lang="zh-CN" altLang="en-US" dirty="0"/>
              <a:t>（低压直流）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		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 </a:t>
            </a:r>
            <a:r>
              <a:rPr lang="en-US" altLang="zh-CN" dirty="0"/>
              <a:t>IBGT</a:t>
            </a:r>
            <a:r>
              <a:rPr lang="zh-CN" altLang="en-US" dirty="0"/>
              <a:t>（适用高压）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           </a:t>
            </a: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）可控硅（交流输入）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	        </a:t>
            </a: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 </a:t>
            </a:r>
            <a:r>
              <a:rPr lang="en-US" altLang="zh-CN" dirty="0"/>
              <a:t>IPM</a:t>
            </a:r>
            <a:r>
              <a:rPr lang="zh-CN" altLang="en-US" dirty="0"/>
              <a:t>（集成度高）</a:t>
            </a:r>
            <a:endParaRPr lang="en-US" altLang="zh-CN" dirty="0"/>
          </a:p>
          <a:p>
            <a:r>
              <a:rPr lang="en-US" altLang="zh-CN" dirty="0"/>
              <a:t>      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B7550FC-7195-4604-9986-89A7BFDCE3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2343" y="1299684"/>
            <a:ext cx="3111531" cy="245647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7737DE3-1CB5-4531-93EB-5A4DB0559F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92" y="3970657"/>
            <a:ext cx="2995706" cy="211696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EB7B0D3-0757-4FA7-82D6-4879E4DFD6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0237" y="3831989"/>
            <a:ext cx="2367221" cy="2546502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7702408-3270-43D4-ABF4-8BCA973CC5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9804393">
            <a:off x="6604355" y="3690679"/>
            <a:ext cx="2177001" cy="1490826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6B28F302-8C65-4B11-A769-AD0F8AE5DE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8887" y="5040562"/>
            <a:ext cx="1872974" cy="180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749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44DAE1-E9A5-4192-82C2-FB66F42CA4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097" y="577565"/>
            <a:ext cx="2146430" cy="6010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EE9CDB90-D293-43F8-896A-1152512083C6}"/>
              </a:ext>
            </a:extLst>
          </p:cNvPr>
          <p:cNvSpPr txBox="1">
            <a:spLocks noChangeArrowheads="1"/>
          </p:cNvSpPr>
          <p:nvPr/>
        </p:nvSpPr>
        <p:spPr>
          <a:xfrm>
            <a:off x="338380" y="310202"/>
            <a:ext cx="7347007" cy="8683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电机控制使用相关器件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084D090-18BB-4A7D-97B8-EBDDAAF133D6}"/>
              </a:ext>
            </a:extLst>
          </p:cNvPr>
          <p:cNvCxnSpPr>
            <a:cxnSpLocks/>
          </p:cNvCxnSpPr>
          <p:nvPr/>
        </p:nvCxnSpPr>
        <p:spPr>
          <a:xfrm>
            <a:off x="205273" y="1287624"/>
            <a:ext cx="87334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AE1FF5AB-54B5-4432-AF3F-E4EA17A6511A}"/>
              </a:ext>
            </a:extLst>
          </p:cNvPr>
          <p:cNvSpPr txBox="1"/>
          <p:nvPr/>
        </p:nvSpPr>
        <p:spPr>
          <a:xfrm>
            <a:off x="406725" y="1441843"/>
            <a:ext cx="8074802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放大器、比较器、</a:t>
            </a:r>
            <a:r>
              <a:rPr lang="en-US" altLang="zh-CN" dirty="0"/>
              <a:t>ADC</a:t>
            </a:r>
            <a:r>
              <a:rPr lang="zh-CN" altLang="en-US" dirty="0"/>
              <a:t>、电流传感器：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		</a:t>
            </a:r>
            <a:r>
              <a:rPr lang="zh-CN" altLang="en-US" dirty="0"/>
              <a:t>作用：模拟采样 用于电机控制算法、硬件保护等。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            </a:t>
            </a:r>
            <a:r>
              <a:rPr lang="zh-CN" altLang="en-US" dirty="0"/>
              <a:t>放大器：增强微弱信号。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           </a:t>
            </a:r>
            <a:r>
              <a:rPr lang="zh-CN" altLang="en-US" dirty="0"/>
              <a:t> 比较器：硬件保护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            ADC</a:t>
            </a:r>
            <a:r>
              <a:rPr lang="zh-CN" altLang="en-US" dirty="0"/>
              <a:t>、电流传感器：采样电流用于算法或者保护。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          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                    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A8AA00-06E4-47FF-9DAA-1482269F62A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0" t="15697" r="13674" b="33362"/>
          <a:stretch/>
        </p:blipFill>
        <p:spPr>
          <a:xfrm>
            <a:off x="180920" y="4354543"/>
            <a:ext cx="2879498" cy="211228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63D3F45-1F03-4880-9EAA-94006C974E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19" r="10456"/>
          <a:stretch/>
        </p:blipFill>
        <p:spPr>
          <a:xfrm>
            <a:off x="3373980" y="4463604"/>
            <a:ext cx="2793555" cy="183173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3911DD9-5025-4986-8A1B-72AE35951AD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8" r="33945"/>
          <a:stretch/>
        </p:blipFill>
        <p:spPr>
          <a:xfrm>
            <a:off x="6335097" y="4553923"/>
            <a:ext cx="2627983" cy="194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1080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44DAE1-E9A5-4192-82C2-FB66F42CA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097" y="577565"/>
            <a:ext cx="2146430" cy="6010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EE9CDB90-D293-43F8-896A-1152512083C6}"/>
              </a:ext>
            </a:extLst>
          </p:cNvPr>
          <p:cNvSpPr txBox="1">
            <a:spLocks noChangeArrowheads="1"/>
          </p:cNvSpPr>
          <p:nvPr/>
        </p:nvSpPr>
        <p:spPr>
          <a:xfrm>
            <a:off x="338380" y="310202"/>
            <a:ext cx="7347007" cy="8683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电机控制使用相关器件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084D090-18BB-4A7D-97B8-EBDDAAF133D6}"/>
              </a:ext>
            </a:extLst>
          </p:cNvPr>
          <p:cNvCxnSpPr>
            <a:cxnSpLocks/>
          </p:cNvCxnSpPr>
          <p:nvPr/>
        </p:nvCxnSpPr>
        <p:spPr>
          <a:xfrm>
            <a:off x="205273" y="1287624"/>
            <a:ext cx="87334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AE1FF5AB-54B5-4432-AF3F-E4EA17A6511A}"/>
              </a:ext>
            </a:extLst>
          </p:cNvPr>
          <p:cNvSpPr txBox="1"/>
          <p:nvPr/>
        </p:nvSpPr>
        <p:spPr>
          <a:xfrm>
            <a:off x="406725" y="1440429"/>
            <a:ext cx="8074802" cy="420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通信模块：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通信方式：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         </a:t>
            </a:r>
            <a:r>
              <a:rPr lang="zh-CN" altLang="en-US" dirty="0"/>
              <a:t>   </a:t>
            </a:r>
            <a:r>
              <a:rPr lang="en-US" altLang="zh-CN" dirty="0"/>
              <a:t>(1) RS485</a:t>
            </a:r>
            <a:r>
              <a:rPr lang="zh-CN" altLang="en-US" dirty="0"/>
              <a:t>（多节点 、差分 、距离较长）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            (2)  CAN </a:t>
            </a:r>
            <a:r>
              <a:rPr lang="zh-CN" altLang="en-US" dirty="0"/>
              <a:t>（多节点、差分、距离较长）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            (3)  LIN   </a:t>
            </a:r>
            <a:r>
              <a:rPr lang="zh-CN" altLang="en-US" dirty="0"/>
              <a:t>（单线通信）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            (4) RS232</a:t>
            </a:r>
            <a:r>
              <a:rPr lang="zh-CN" altLang="en-US" dirty="0"/>
              <a:t>（单点通信、距离断）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            (5) I2C/SPI</a:t>
            </a:r>
            <a:r>
              <a:rPr lang="zh-CN" altLang="en-US" dirty="0"/>
              <a:t>（主从、距离较短、同步通信）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RS485</a:t>
            </a:r>
            <a:r>
              <a:rPr lang="zh-CN" altLang="en-US" dirty="0"/>
              <a:t>、</a:t>
            </a:r>
            <a:r>
              <a:rPr lang="en-US" altLang="zh-CN" dirty="0"/>
              <a:t> CAN</a:t>
            </a:r>
            <a:r>
              <a:rPr lang="zh-CN" altLang="en-US" dirty="0"/>
              <a:t>和</a:t>
            </a:r>
            <a:r>
              <a:rPr lang="en-US" altLang="zh-CN" dirty="0"/>
              <a:t>LIN </a:t>
            </a:r>
            <a:r>
              <a:rPr lang="zh-CN" altLang="en-US" dirty="0"/>
              <a:t>需要收发器</a:t>
            </a:r>
            <a:r>
              <a:rPr lang="en-US" altLang="zh-CN" dirty="0"/>
              <a:t>\</a:t>
            </a:r>
            <a:r>
              <a:rPr lang="zh-CN" altLang="en-US" dirty="0"/>
              <a:t>协议转换器。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                  </a:t>
            </a:r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0B27D0A-A443-496D-9D1C-6E12E7FC8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11" y="1393226"/>
            <a:ext cx="8525264" cy="431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464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44DAE1-E9A5-4192-82C2-FB66F42CA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097" y="577565"/>
            <a:ext cx="2146430" cy="6010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EE9CDB90-D293-43F8-896A-1152512083C6}"/>
              </a:ext>
            </a:extLst>
          </p:cNvPr>
          <p:cNvSpPr txBox="1">
            <a:spLocks noChangeArrowheads="1"/>
          </p:cNvSpPr>
          <p:nvPr/>
        </p:nvSpPr>
        <p:spPr>
          <a:xfrm>
            <a:off x="338380" y="310202"/>
            <a:ext cx="7347007" cy="8683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适合电机控制产品及方案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084D090-18BB-4A7D-97B8-EBDDAAF133D6}"/>
              </a:ext>
            </a:extLst>
          </p:cNvPr>
          <p:cNvCxnSpPr>
            <a:cxnSpLocks/>
          </p:cNvCxnSpPr>
          <p:nvPr/>
        </p:nvCxnSpPr>
        <p:spPr>
          <a:xfrm>
            <a:off x="205273" y="1287624"/>
            <a:ext cx="87334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F8755DA-436B-495B-9EB6-D92179B5036F}"/>
              </a:ext>
            </a:extLst>
          </p:cNvPr>
          <p:cNvSpPr txBox="1"/>
          <p:nvPr/>
        </p:nvSpPr>
        <p:spPr>
          <a:xfrm>
            <a:off x="690464" y="1623526"/>
            <a:ext cx="724055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输入电源：</a:t>
            </a:r>
            <a:endParaRPr lang="en-US" altLang="zh-CN" sz="2000" b="1" dirty="0"/>
          </a:p>
          <a:p>
            <a:r>
              <a:rPr lang="en-US" altLang="zh-CN" dirty="0"/>
              <a:t>         </a:t>
            </a:r>
            <a:r>
              <a:rPr lang="zh-CN" altLang="en-US" dirty="0"/>
              <a:t>高压交流 ：</a:t>
            </a:r>
            <a:r>
              <a:rPr lang="en-US" altLang="zh-CN" dirty="0"/>
              <a:t>~220V -&gt;310V DC </a:t>
            </a:r>
          </a:p>
          <a:p>
            <a:r>
              <a:rPr lang="en-US" altLang="zh-CN" dirty="0"/>
              <a:t>          1</a:t>
            </a:r>
            <a:r>
              <a:rPr lang="zh-CN" altLang="en-US" dirty="0"/>
              <a:t>、</a:t>
            </a:r>
            <a:r>
              <a:rPr lang="en-US" altLang="zh-CN" dirty="0"/>
              <a:t>450V 200uf Nichicon </a:t>
            </a:r>
            <a:r>
              <a:rPr lang="zh-CN" altLang="en-US" dirty="0"/>
              <a:t>电容</a:t>
            </a:r>
            <a:r>
              <a:rPr lang="en-US" altLang="zh-CN" dirty="0"/>
              <a:t>(Nichicon)</a:t>
            </a:r>
            <a:r>
              <a:rPr lang="zh-CN" altLang="en-US" dirty="0"/>
              <a:t>  </a:t>
            </a:r>
            <a:endParaRPr lang="en-US" altLang="zh-CN" dirty="0"/>
          </a:p>
          <a:p>
            <a:r>
              <a:rPr lang="en-US" altLang="zh-CN" dirty="0"/>
              <a:t>          2</a:t>
            </a:r>
            <a:r>
              <a:rPr lang="zh-CN" altLang="en-US" dirty="0"/>
              <a:t>、</a:t>
            </a:r>
            <a:r>
              <a:rPr lang="en-US" altLang="zh-CN" dirty="0"/>
              <a:t>AEM</a:t>
            </a:r>
            <a:r>
              <a:rPr lang="zh-CN" altLang="en-US" dirty="0"/>
              <a:t>保险丝</a:t>
            </a:r>
            <a:r>
              <a:rPr lang="en-US" altLang="zh-CN" dirty="0"/>
              <a:t>(AEM)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7DD9524-3FB0-4D4F-A9D0-3D4DD050A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236" y="2875415"/>
            <a:ext cx="5803642" cy="356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8311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44DAE1-E9A5-4192-82C2-FB66F42CA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097" y="577565"/>
            <a:ext cx="2146430" cy="6010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EE9CDB90-D293-43F8-896A-1152512083C6}"/>
              </a:ext>
            </a:extLst>
          </p:cNvPr>
          <p:cNvSpPr txBox="1">
            <a:spLocks noChangeArrowheads="1"/>
          </p:cNvSpPr>
          <p:nvPr/>
        </p:nvSpPr>
        <p:spPr>
          <a:xfrm>
            <a:off x="338380" y="310202"/>
            <a:ext cx="7347007" cy="8683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适合电机控制产品及方案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084D090-18BB-4A7D-97B8-EBDDAAF133D6}"/>
              </a:ext>
            </a:extLst>
          </p:cNvPr>
          <p:cNvCxnSpPr>
            <a:cxnSpLocks/>
          </p:cNvCxnSpPr>
          <p:nvPr/>
        </p:nvCxnSpPr>
        <p:spPr>
          <a:xfrm>
            <a:off x="205273" y="1287624"/>
            <a:ext cx="87334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F8755DA-436B-495B-9EB6-D92179B5036F}"/>
              </a:ext>
            </a:extLst>
          </p:cNvPr>
          <p:cNvSpPr txBox="1"/>
          <p:nvPr/>
        </p:nvSpPr>
        <p:spPr>
          <a:xfrm>
            <a:off x="690464" y="1623526"/>
            <a:ext cx="724055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输入电源：</a:t>
            </a:r>
            <a:endParaRPr lang="en-US" altLang="zh-CN" sz="2000" b="1" dirty="0"/>
          </a:p>
          <a:p>
            <a:r>
              <a:rPr lang="en-US" altLang="zh-CN" dirty="0"/>
              <a:t>         </a:t>
            </a:r>
            <a:r>
              <a:rPr lang="zh-CN" altLang="en-US" dirty="0"/>
              <a:t>电池包 ：</a:t>
            </a:r>
            <a:r>
              <a:rPr lang="en-US" altLang="zh-CN" dirty="0"/>
              <a:t>54V</a:t>
            </a:r>
            <a:r>
              <a:rPr lang="zh-CN" altLang="en-US" dirty="0"/>
              <a:t>、</a:t>
            </a:r>
            <a:r>
              <a:rPr lang="en-US" altLang="zh-CN" dirty="0"/>
              <a:t>36V</a:t>
            </a:r>
            <a:r>
              <a:rPr lang="zh-CN" altLang="en-US" dirty="0"/>
              <a:t>、</a:t>
            </a:r>
            <a:r>
              <a:rPr lang="en-US" altLang="zh-CN" dirty="0"/>
              <a:t>18V..</a:t>
            </a:r>
          </a:p>
          <a:p>
            <a:r>
              <a:rPr lang="en-US" altLang="zh-CN" dirty="0"/>
              <a:t>          1</a:t>
            </a:r>
            <a:r>
              <a:rPr lang="zh-CN" altLang="en-US" dirty="0"/>
              <a:t>、</a:t>
            </a:r>
            <a:r>
              <a:rPr lang="en-US" altLang="zh-CN" dirty="0"/>
              <a:t>63V 100uf </a:t>
            </a:r>
            <a:r>
              <a:rPr lang="zh-CN" altLang="en-US" dirty="0"/>
              <a:t>电容 </a:t>
            </a:r>
            <a:r>
              <a:rPr lang="en-US" altLang="zh-CN" dirty="0"/>
              <a:t>(Nichicon)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          2</a:t>
            </a:r>
            <a:r>
              <a:rPr lang="zh-CN" altLang="en-US" dirty="0"/>
              <a:t>、</a:t>
            </a:r>
            <a:r>
              <a:rPr lang="en-US" altLang="zh-CN" dirty="0"/>
              <a:t>AEM</a:t>
            </a:r>
            <a:r>
              <a:rPr lang="zh-CN" altLang="en-US" dirty="0"/>
              <a:t>保险丝</a:t>
            </a:r>
            <a:r>
              <a:rPr lang="en-US" altLang="zh-CN" dirty="0"/>
              <a:t>(AEM)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980A4F5-02A3-4724-A448-08279344C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464" y="2925080"/>
            <a:ext cx="7467985" cy="2010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8406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44DAE1-E9A5-4192-82C2-FB66F42CA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097" y="577565"/>
            <a:ext cx="2146430" cy="6010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EE9CDB90-D293-43F8-896A-1152512083C6}"/>
              </a:ext>
            </a:extLst>
          </p:cNvPr>
          <p:cNvSpPr txBox="1">
            <a:spLocks noChangeArrowheads="1"/>
          </p:cNvSpPr>
          <p:nvPr/>
        </p:nvSpPr>
        <p:spPr>
          <a:xfrm>
            <a:off x="338380" y="310202"/>
            <a:ext cx="7347007" cy="8683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适合电机控制产品及方案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084D090-18BB-4A7D-97B8-EBDDAAF133D6}"/>
              </a:ext>
            </a:extLst>
          </p:cNvPr>
          <p:cNvCxnSpPr>
            <a:cxnSpLocks/>
          </p:cNvCxnSpPr>
          <p:nvPr/>
        </p:nvCxnSpPr>
        <p:spPr>
          <a:xfrm>
            <a:off x="205273" y="1287624"/>
            <a:ext cx="87334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F8755DA-436B-495B-9EB6-D92179B5036F}"/>
              </a:ext>
            </a:extLst>
          </p:cNvPr>
          <p:cNvSpPr txBox="1"/>
          <p:nvPr/>
        </p:nvSpPr>
        <p:spPr>
          <a:xfrm>
            <a:off x="690464" y="1623526"/>
            <a:ext cx="724055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驱动电源：</a:t>
            </a:r>
            <a:endParaRPr lang="en-US" altLang="zh-CN" sz="2000" b="1" dirty="0"/>
          </a:p>
          <a:p>
            <a:r>
              <a:rPr lang="en-US" altLang="zh-CN" dirty="0"/>
              <a:t>         </a:t>
            </a:r>
            <a:r>
              <a:rPr lang="zh-CN" altLang="en-US" dirty="0"/>
              <a:t>降压电路：</a:t>
            </a:r>
            <a:r>
              <a:rPr lang="en-US" altLang="zh-CN" dirty="0"/>
              <a:t>310VAC-&gt;15VDC</a:t>
            </a:r>
          </a:p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TOP221  (PI)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LNK3202/3204-6(PI)</a:t>
            </a:r>
          </a:p>
          <a:p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7291243-2038-434D-8220-1E967C7E2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721" y="2997509"/>
            <a:ext cx="7098557" cy="3381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9781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44DAE1-E9A5-4192-82C2-FB66F42CA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097" y="577565"/>
            <a:ext cx="2146430" cy="6010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EE9CDB90-D293-43F8-896A-1152512083C6}"/>
              </a:ext>
            </a:extLst>
          </p:cNvPr>
          <p:cNvSpPr txBox="1">
            <a:spLocks noChangeArrowheads="1"/>
          </p:cNvSpPr>
          <p:nvPr/>
        </p:nvSpPr>
        <p:spPr>
          <a:xfrm>
            <a:off x="338380" y="310202"/>
            <a:ext cx="7347007" cy="8683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适合电机控制产品及方案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084D090-18BB-4A7D-97B8-EBDDAAF133D6}"/>
              </a:ext>
            </a:extLst>
          </p:cNvPr>
          <p:cNvCxnSpPr>
            <a:cxnSpLocks/>
          </p:cNvCxnSpPr>
          <p:nvPr/>
        </p:nvCxnSpPr>
        <p:spPr>
          <a:xfrm>
            <a:off x="205273" y="1287624"/>
            <a:ext cx="87334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F8755DA-436B-495B-9EB6-D92179B5036F}"/>
              </a:ext>
            </a:extLst>
          </p:cNvPr>
          <p:cNvSpPr txBox="1"/>
          <p:nvPr/>
        </p:nvSpPr>
        <p:spPr>
          <a:xfrm>
            <a:off x="690464" y="1623526"/>
            <a:ext cx="724055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驱动电源：</a:t>
            </a:r>
            <a:endParaRPr lang="en-US" altLang="zh-CN" sz="2000" b="1" dirty="0"/>
          </a:p>
          <a:p>
            <a:r>
              <a:rPr lang="en-US" altLang="zh-CN" dirty="0"/>
              <a:t>         DC-DC </a:t>
            </a:r>
            <a:r>
              <a:rPr lang="zh-CN" altLang="en-US" dirty="0"/>
              <a:t>：</a:t>
            </a:r>
            <a:r>
              <a:rPr lang="en-US" altLang="zh-CN" dirty="0"/>
              <a:t>36V ~12V  </a:t>
            </a:r>
          </a:p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MCP16331</a:t>
            </a:r>
            <a:r>
              <a:rPr lang="zh-CN" altLang="en-US" dirty="0"/>
              <a:t>（</a:t>
            </a:r>
            <a:r>
              <a:rPr lang="en-US" altLang="zh-CN" dirty="0"/>
              <a:t>50V</a:t>
            </a:r>
            <a:r>
              <a:rPr lang="zh-CN" altLang="en-US" dirty="0"/>
              <a:t>）</a:t>
            </a:r>
            <a:r>
              <a:rPr lang="en-US" altLang="zh-CN" dirty="0"/>
              <a:t>MCP16301</a:t>
            </a:r>
            <a:r>
              <a:rPr lang="zh-CN" altLang="en-US" dirty="0"/>
              <a:t>（</a:t>
            </a:r>
            <a:r>
              <a:rPr lang="en-US" altLang="zh-CN" dirty="0"/>
              <a:t>30V</a:t>
            </a:r>
            <a:r>
              <a:rPr lang="zh-CN" altLang="en-US" dirty="0"/>
              <a:t>） </a:t>
            </a:r>
            <a:r>
              <a:rPr lang="en-US" altLang="zh-CN" dirty="0"/>
              <a:t>(MCHP) </a:t>
            </a:r>
          </a:p>
          <a:p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EE78222-95D1-4EE3-B1E6-3DAB41F83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320" y="2645354"/>
            <a:ext cx="6825345" cy="343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1360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44DAE1-E9A5-4192-82C2-FB66F42CA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097" y="577565"/>
            <a:ext cx="2146430" cy="6010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EE9CDB90-D293-43F8-896A-1152512083C6}"/>
              </a:ext>
            </a:extLst>
          </p:cNvPr>
          <p:cNvSpPr txBox="1">
            <a:spLocks noChangeArrowheads="1"/>
          </p:cNvSpPr>
          <p:nvPr/>
        </p:nvSpPr>
        <p:spPr>
          <a:xfrm>
            <a:off x="338380" y="310202"/>
            <a:ext cx="7347007" cy="8683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适合电机控制产品及方案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084D090-18BB-4A7D-97B8-EBDDAAF133D6}"/>
              </a:ext>
            </a:extLst>
          </p:cNvPr>
          <p:cNvCxnSpPr>
            <a:cxnSpLocks/>
          </p:cNvCxnSpPr>
          <p:nvPr/>
        </p:nvCxnSpPr>
        <p:spPr>
          <a:xfrm>
            <a:off x="205273" y="1287624"/>
            <a:ext cx="87334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F8755DA-436B-495B-9EB6-D92179B5036F}"/>
              </a:ext>
            </a:extLst>
          </p:cNvPr>
          <p:cNvSpPr txBox="1"/>
          <p:nvPr/>
        </p:nvSpPr>
        <p:spPr>
          <a:xfrm>
            <a:off x="690464" y="1623526"/>
            <a:ext cx="724055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3.3V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5V</a:t>
            </a:r>
            <a:r>
              <a:rPr lang="zh-CN" altLang="en-US" sz="2000" b="1" dirty="0"/>
              <a:t>电源：</a:t>
            </a:r>
            <a:endParaRPr lang="en-US" altLang="zh-CN" sz="2000" b="1" dirty="0"/>
          </a:p>
          <a:p>
            <a:r>
              <a:rPr lang="en-US" altLang="zh-CN" dirty="0"/>
              <a:t>         LDO</a:t>
            </a:r>
            <a:r>
              <a:rPr lang="zh-CN" altLang="en-US" dirty="0"/>
              <a:t>：</a:t>
            </a:r>
            <a:r>
              <a:rPr lang="en-US" altLang="zh-CN" dirty="0"/>
              <a:t>MCU</a:t>
            </a:r>
            <a:r>
              <a:rPr lang="zh-CN" altLang="en-US" dirty="0"/>
              <a:t>供电、外围模拟或者数字器件供电 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MCP1703(MCHP)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MIC2920A (MCHP)</a:t>
            </a:r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E59E60E-AA48-464A-8D87-DE32AAD41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3928" y="2735076"/>
            <a:ext cx="3819525" cy="39433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8FC2968-3E03-4336-96A1-95FC695526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273" y="3023118"/>
            <a:ext cx="4524695" cy="2284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5272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44DAE1-E9A5-4192-82C2-FB66F42CA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097" y="577565"/>
            <a:ext cx="2146430" cy="6010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EE9CDB90-D293-43F8-896A-1152512083C6}"/>
              </a:ext>
            </a:extLst>
          </p:cNvPr>
          <p:cNvSpPr txBox="1">
            <a:spLocks noChangeArrowheads="1"/>
          </p:cNvSpPr>
          <p:nvPr/>
        </p:nvSpPr>
        <p:spPr>
          <a:xfrm>
            <a:off x="338380" y="310202"/>
            <a:ext cx="7347007" cy="8683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适合电机控制产品及方案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084D090-18BB-4A7D-97B8-EBDDAAF133D6}"/>
              </a:ext>
            </a:extLst>
          </p:cNvPr>
          <p:cNvCxnSpPr>
            <a:cxnSpLocks/>
          </p:cNvCxnSpPr>
          <p:nvPr/>
        </p:nvCxnSpPr>
        <p:spPr>
          <a:xfrm>
            <a:off x="205273" y="1287624"/>
            <a:ext cx="87334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F8755DA-436B-495B-9EB6-D92179B5036F}"/>
              </a:ext>
            </a:extLst>
          </p:cNvPr>
          <p:cNvSpPr txBox="1"/>
          <p:nvPr/>
        </p:nvSpPr>
        <p:spPr>
          <a:xfrm>
            <a:off x="690464" y="1623526"/>
            <a:ext cx="7240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LDO</a:t>
            </a:r>
            <a:r>
              <a:rPr lang="zh-CN" altLang="en-US" dirty="0"/>
              <a:t>：</a:t>
            </a:r>
            <a:r>
              <a:rPr lang="en-US" altLang="zh-CN" dirty="0"/>
              <a:t>MIC2920A (MCHP)</a:t>
            </a:r>
          </a:p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8CD0984-8BDE-4CE5-91DB-0C2928A2F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741" y="2943191"/>
            <a:ext cx="4739951" cy="333724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14449E7-E300-4DC8-ADBE-7F64DAB87F5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858" r="52276"/>
          <a:stretch/>
        </p:blipFill>
        <p:spPr>
          <a:xfrm>
            <a:off x="503184" y="3330718"/>
            <a:ext cx="3807557" cy="256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3208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44DAE1-E9A5-4192-82C2-FB66F42CA4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097" y="577565"/>
            <a:ext cx="2146430" cy="6010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EE9CDB90-D293-43F8-896A-1152512083C6}"/>
              </a:ext>
            </a:extLst>
          </p:cNvPr>
          <p:cNvSpPr txBox="1">
            <a:spLocks noChangeArrowheads="1"/>
          </p:cNvSpPr>
          <p:nvPr/>
        </p:nvSpPr>
        <p:spPr>
          <a:xfrm>
            <a:off x="338380" y="310202"/>
            <a:ext cx="7347007" cy="8683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适合电机控制产品及方案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084D090-18BB-4A7D-97B8-EBDDAAF133D6}"/>
              </a:ext>
            </a:extLst>
          </p:cNvPr>
          <p:cNvCxnSpPr>
            <a:cxnSpLocks/>
          </p:cNvCxnSpPr>
          <p:nvPr/>
        </p:nvCxnSpPr>
        <p:spPr>
          <a:xfrm>
            <a:off x="205273" y="1287624"/>
            <a:ext cx="87334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F8755DA-436B-495B-9EB6-D92179B5036F}"/>
              </a:ext>
            </a:extLst>
          </p:cNvPr>
          <p:cNvSpPr txBox="1"/>
          <p:nvPr/>
        </p:nvSpPr>
        <p:spPr>
          <a:xfrm>
            <a:off x="821093" y="1712401"/>
            <a:ext cx="724055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主控：</a:t>
            </a:r>
            <a:r>
              <a:rPr lang="en-US" altLang="zh-CN" sz="2400" b="1" dirty="0"/>
              <a:t>MCU</a:t>
            </a:r>
          </a:p>
          <a:p>
            <a:pPr lvl="1">
              <a:lnSpc>
                <a:spcPct val="150000"/>
              </a:lnSpc>
            </a:pPr>
            <a:r>
              <a:rPr lang="en-US" altLang="zh-CN" sz="2000" b="1" dirty="0"/>
              <a:t>BLDC </a:t>
            </a:r>
            <a:r>
              <a:rPr lang="zh-CN" altLang="en-US" sz="2000" b="1" dirty="0"/>
              <a:t>方波控制</a:t>
            </a:r>
            <a:endParaRPr lang="en-US" altLang="zh-CN" sz="2000" b="1" dirty="0"/>
          </a:p>
          <a:p>
            <a:pPr lvl="1">
              <a:lnSpc>
                <a:spcPct val="150000"/>
              </a:lnSpc>
            </a:pPr>
            <a:r>
              <a:rPr lang="en-US" altLang="zh-CN" sz="2000" dirty="0"/>
              <a:t>1</a:t>
            </a:r>
            <a:r>
              <a:rPr lang="zh-CN" altLang="en-US" sz="2000" dirty="0"/>
              <a:t>、</a:t>
            </a:r>
            <a:r>
              <a:rPr lang="en-US" altLang="zh-CN" sz="2000" dirty="0"/>
              <a:t>PIC16F15355</a:t>
            </a:r>
            <a:r>
              <a:rPr lang="zh-CN" altLang="en-US" sz="2000" dirty="0"/>
              <a:t>（</a:t>
            </a:r>
            <a:r>
              <a:rPr lang="en-US" altLang="zh-CN" sz="2000" dirty="0"/>
              <a:t>MCHP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en-US" altLang="zh-CN" sz="2000" dirty="0"/>
              <a:t>2</a:t>
            </a:r>
            <a:r>
              <a:rPr lang="zh-CN" altLang="en-US" sz="2000" dirty="0"/>
              <a:t>、</a:t>
            </a:r>
            <a:r>
              <a:rPr lang="en-US" altLang="zh-CN" sz="2000" dirty="0"/>
              <a:t>ATTINY1617(MCHP)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/>
              <a:t>3</a:t>
            </a:r>
            <a:r>
              <a:rPr lang="zh-CN" altLang="en-US" sz="2000" dirty="0"/>
              <a:t>、</a:t>
            </a:r>
            <a:r>
              <a:rPr lang="en-US" altLang="zh-CN" sz="2000" dirty="0"/>
              <a:t>KF8S1100/1</a:t>
            </a:r>
            <a:r>
              <a:rPr lang="zh-CN" altLang="en-US" sz="2000" dirty="0"/>
              <a:t>（</a:t>
            </a:r>
            <a:r>
              <a:rPr lang="en-US" altLang="zh-CN" sz="2000" dirty="0"/>
              <a:t>CHIPON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en-US" altLang="zh-CN" sz="2000" dirty="0"/>
              <a:t>4</a:t>
            </a:r>
            <a:r>
              <a:rPr lang="zh-CN" altLang="en-US" sz="2000" dirty="0"/>
              <a:t>、</a:t>
            </a:r>
            <a:r>
              <a:rPr lang="en-US" altLang="zh-CN" sz="2000" dirty="0"/>
              <a:t>PAC5233  (Active semi )</a:t>
            </a:r>
          </a:p>
          <a:p>
            <a:endParaRPr lang="en-US" altLang="zh-CN" sz="2400" b="1" dirty="0"/>
          </a:p>
          <a:p>
            <a:endParaRPr lang="en-US" altLang="zh-CN" sz="2400" b="1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15161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44DAE1-E9A5-4192-82C2-FB66F42CA4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097" y="577565"/>
            <a:ext cx="2146430" cy="6010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EE9CDB90-D293-43F8-896A-1152512083C6}"/>
              </a:ext>
            </a:extLst>
          </p:cNvPr>
          <p:cNvSpPr txBox="1">
            <a:spLocks noChangeArrowheads="1"/>
          </p:cNvSpPr>
          <p:nvPr/>
        </p:nvSpPr>
        <p:spPr>
          <a:xfrm>
            <a:off x="338380" y="310202"/>
            <a:ext cx="7347007" cy="8683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适合电机控制产品及方案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084D090-18BB-4A7D-97B8-EBDDAAF133D6}"/>
              </a:ext>
            </a:extLst>
          </p:cNvPr>
          <p:cNvCxnSpPr>
            <a:cxnSpLocks/>
          </p:cNvCxnSpPr>
          <p:nvPr/>
        </p:nvCxnSpPr>
        <p:spPr>
          <a:xfrm>
            <a:off x="205273" y="1287624"/>
            <a:ext cx="87334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F8755DA-436B-495B-9EB6-D92179B5036F}"/>
              </a:ext>
            </a:extLst>
          </p:cNvPr>
          <p:cNvSpPr txBox="1"/>
          <p:nvPr/>
        </p:nvSpPr>
        <p:spPr>
          <a:xfrm>
            <a:off x="541174" y="1396684"/>
            <a:ext cx="724055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BLDC </a:t>
            </a:r>
            <a:r>
              <a:rPr lang="zh-CN" altLang="en-US" sz="2400" b="1" dirty="0"/>
              <a:t>方波控制</a:t>
            </a:r>
            <a:endParaRPr lang="en-US" altLang="zh-CN" sz="2400" b="1" dirty="0"/>
          </a:p>
          <a:p>
            <a:endParaRPr lang="en-US" altLang="zh-CN" sz="2400" b="1" dirty="0"/>
          </a:p>
          <a:p>
            <a:r>
              <a:rPr lang="en-US" altLang="zh-CN" sz="2400" b="1" dirty="0"/>
              <a:t>PIC16F15355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ATATINY1617</a:t>
            </a:r>
          </a:p>
          <a:p>
            <a:endParaRPr lang="en-US" altLang="zh-CN" sz="2400" b="1" dirty="0"/>
          </a:p>
          <a:p>
            <a:pPr lvl="1"/>
            <a:r>
              <a:rPr lang="en-US" altLang="zh-CN" sz="2000" dirty="0"/>
              <a:t>1</a:t>
            </a:r>
            <a:r>
              <a:rPr lang="zh-CN" altLang="en-US" sz="2000" dirty="0"/>
              <a:t>、三路</a:t>
            </a:r>
            <a:r>
              <a:rPr lang="en-US" altLang="zh-CN" sz="2000" dirty="0"/>
              <a:t>PWM</a:t>
            </a:r>
          </a:p>
          <a:p>
            <a:pPr lvl="1"/>
            <a:r>
              <a:rPr lang="en-US" altLang="zh-CN" sz="2000" dirty="0"/>
              <a:t>2</a:t>
            </a:r>
            <a:r>
              <a:rPr lang="zh-CN" altLang="en-US" sz="2000" dirty="0"/>
              <a:t>、三路比较器可以用于无感方波控制</a:t>
            </a:r>
            <a:endParaRPr lang="en-US" altLang="zh-CN" sz="2000" dirty="0"/>
          </a:p>
          <a:p>
            <a:pPr lvl="1"/>
            <a:r>
              <a:rPr lang="en-US" altLang="zh-CN" sz="2000" dirty="0"/>
              <a:t>3</a:t>
            </a:r>
            <a:r>
              <a:rPr lang="zh-CN" altLang="en-US" sz="2000" dirty="0"/>
              <a:t>、</a:t>
            </a:r>
            <a:r>
              <a:rPr lang="en-US" altLang="zh-CN" sz="2000" dirty="0"/>
              <a:t>ADC</a:t>
            </a:r>
          </a:p>
          <a:p>
            <a:pPr lvl="1"/>
            <a:r>
              <a:rPr lang="en-US" altLang="zh-CN" sz="2000" dirty="0"/>
              <a:t>4</a:t>
            </a:r>
            <a:r>
              <a:rPr lang="zh-CN" altLang="en-US" sz="2000" dirty="0"/>
              <a:t>、串口、</a:t>
            </a:r>
            <a:r>
              <a:rPr lang="en-US" altLang="zh-CN" sz="2000" dirty="0"/>
              <a:t>SPI</a:t>
            </a:r>
            <a:r>
              <a:rPr lang="zh-CN" altLang="en-US" sz="2000" dirty="0"/>
              <a:t>、</a:t>
            </a:r>
            <a:r>
              <a:rPr lang="en-US" altLang="zh-CN" sz="2000" dirty="0"/>
              <a:t>I2C</a:t>
            </a:r>
            <a:r>
              <a:rPr lang="zh-CN" altLang="en-US" sz="2000" dirty="0"/>
              <a:t>通信接口</a:t>
            </a:r>
            <a:endParaRPr lang="en-US" altLang="zh-CN" sz="2000" dirty="0"/>
          </a:p>
          <a:p>
            <a:pPr lvl="1"/>
            <a:r>
              <a:rPr lang="en-US" altLang="zh-CN" sz="2000" dirty="0"/>
              <a:t>5</a:t>
            </a:r>
            <a:r>
              <a:rPr lang="zh-CN" altLang="en-US" sz="2000" dirty="0"/>
              <a:t>、开源算法</a:t>
            </a:r>
            <a:endParaRPr lang="en-US" altLang="zh-CN" sz="2000" dirty="0"/>
          </a:p>
          <a:p>
            <a:pPr lvl="1"/>
            <a:r>
              <a:rPr lang="en-US" altLang="zh-CN" sz="2000" dirty="0"/>
              <a:t>6</a:t>
            </a:r>
            <a:r>
              <a:rPr lang="zh-CN" altLang="en-US" sz="2000" dirty="0"/>
              <a:t>、应用笔记</a:t>
            </a:r>
            <a:r>
              <a:rPr lang="en-US" altLang="zh-CN" sz="2000" dirty="0"/>
              <a:t>AN1175</a:t>
            </a:r>
          </a:p>
          <a:p>
            <a:pPr lvl="1"/>
            <a:r>
              <a:rPr lang="en-US" altLang="zh-CN" sz="2000" dirty="0"/>
              <a:t>7</a:t>
            </a:r>
            <a:r>
              <a:rPr lang="zh-CN" altLang="en-US" sz="2000" dirty="0"/>
              <a:t>、代码生成器</a:t>
            </a:r>
            <a:r>
              <a:rPr lang="en-US" altLang="zh-CN" sz="2000" dirty="0"/>
              <a:t>MCC</a:t>
            </a:r>
          </a:p>
          <a:p>
            <a:pPr lvl="1"/>
            <a:r>
              <a:rPr lang="en-US" altLang="zh-CN" sz="2000" dirty="0"/>
              <a:t>8</a:t>
            </a:r>
            <a:r>
              <a:rPr lang="zh-CN" altLang="en-US" sz="2000" dirty="0"/>
              <a:t>、</a:t>
            </a:r>
            <a:r>
              <a:rPr lang="en-US" altLang="zh-CN" sz="2000" dirty="0"/>
              <a:t>MAPLABX  IED </a:t>
            </a:r>
            <a:r>
              <a:rPr lang="zh-CN" altLang="en-US" sz="2000" dirty="0"/>
              <a:t>（</a:t>
            </a:r>
            <a:r>
              <a:rPr lang="en-US" altLang="zh-CN" sz="2000" dirty="0"/>
              <a:t>free 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FCABF5F-77EE-4631-8A0C-A00B934A03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0842" y="2200177"/>
            <a:ext cx="2419350" cy="15525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89FDC2B-159C-44BB-8CBB-876E658F5E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1480" y="4380228"/>
            <a:ext cx="4067175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1722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44DAE1-E9A5-4192-82C2-FB66F42CA4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097" y="577565"/>
            <a:ext cx="2146430" cy="6010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EE9CDB90-D293-43F8-896A-1152512083C6}"/>
              </a:ext>
            </a:extLst>
          </p:cNvPr>
          <p:cNvSpPr txBox="1">
            <a:spLocks noChangeArrowheads="1"/>
          </p:cNvSpPr>
          <p:nvPr/>
        </p:nvSpPr>
        <p:spPr>
          <a:xfrm>
            <a:off x="338380" y="310202"/>
            <a:ext cx="7347007" cy="8683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适合电机控制产品及方案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084D090-18BB-4A7D-97B8-EBDDAAF133D6}"/>
              </a:ext>
            </a:extLst>
          </p:cNvPr>
          <p:cNvCxnSpPr>
            <a:cxnSpLocks/>
          </p:cNvCxnSpPr>
          <p:nvPr/>
        </p:nvCxnSpPr>
        <p:spPr>
          <a:xfrm>
            <a:off x="205273" y="1287624"/>
            <a:ext cx="87334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F8755DA-436B-495B-9EB6-D92179B5036F}"/>
              </a:ext>
            </a:extLst>
          </p:cNvPr>
          <p:cNvSpPr txBox="1"/>
          <p:nvPr/>
        </p:nvSpPr>
        <p:spPr>
          <a:xfrm>
            <a:off x="444832" y="876485"/>
            <a:ext cx="7240555" cy="2999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400" dirty="0"/>
          </a:p>
          <a:p>
            <a:r>
              <a:rPr lang="en-US" altLang="zh-CN" sz="2400" b="1" dirty="0"/>
              <a:t>BLDC </a:t>
            </a:r>
            <a:r>
              <a:rPr lang="zh-CN" altLang="en-US" sz="2400" b="1" dirty="0"/>
              <a:t>方波控制</a:t>
            </a:r>
            <a:endParaRPr lang="en-US" altLang="zh-CN" sz="2400" b="1" dirty="0"/>
          </a:p>
          <a:p>
            <a:r>
              <a:rPr lang="en-US" altLang="zh-CN" sz="2400" dirty="0"/>
              <a:t>KF8S1100/1</a:t>
            </a:r>
            <a:endParaRPr lang="en-US" altLang="zh-CN" sz="2400" b="1" dirty="0"/>
          </a:p>
          <a:p>
            <a:pPr lvl="1">
              <a:lnSpc>
                <a:spcPct val="150000"/>
              </a:lnSpc>
            </a:pPr>
            <a:r>
              <a:rPr lang="en-US" altLang="zh-CN" sz="2000" dirty="0"/>
              <a:t>1</a:t>
            </a:r>
            <a:r>
              <a:rPr lang="zh-CN" altLang="en-US" sz="2000" dirty="0"/>
              <a:t>、专用电机控制芯片，可控制有感、无感的</a:t>
            </a:r>
            <a:r>
              <a:rPr lang="en-US" altLang="zh-CN" sz="2000" dirty="0"/>
              <a:t>BLDC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en-US" altLang="zh-CN" sz="2000" dirty="0"/>
              <a:t>2</a:t>
            </a:r>
            <a:r>
              <a:rPr lang="zh-CN" altLang="en-US" sz="2000" dirty="0"/>
              <a:t>、内部集成比较器矩阵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en-US" altLang="zh-CN" sz="2000" dirty="0"/>
              <a:t>3</a:t>
            </a:r>
            <a:r>
              <a:rPr lang="zh-CN" altLang="en-US" sz="2000" dirty="0"/>
              <a:t>、国产低成本、有现成方案。有</a:t>
            </a:r>
            <a:r>
              <a:rPr lang="en-US" altLang="zh-CN" sz="2000" dirty="0"/>
              <a:t>Designed in </a:t>
            </a:r>
            <a:r>
              <a:rPr lang="zh-CN" altLang="en-US" sz="2000" dirty="0"/>
              <a:t>方案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endParaRPr lang="en-US" altLang="zh-CN" sz="20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0A9C3EA-8371-4AD4-9876-6224EB3F1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290" y="3464628"/>
            <a:ext cx="4164563" cy="312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8995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44DAE1-E9A5-4192-82C2-FB66F42CA4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097" y="577565"/>
            <a:ext cx="2146430" cy="6010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EE9CDB90-D293-43F8-896A-1152512083C6}"/>
              </a:ext>
            </a:extLst>
          </p:cNvPr>
          <p:cNvSpPr txBox="1">
            <a:spLocks noChangeArrowheads="1"/>
          </p:cNvSpPr>
          <p:nvPr/>
        </p:nvSpPr>
        <p:spPr>
          <a:xfrm>
            <a:off x="338380" y="310202"/>
            <a:ext cx="7347007" cy="8683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适合电机控制产品及方案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084D090-18BB-4A7D-97B8-EBDDAAF133D6}"/>
              </a:ext>
            </a:extLst>
          </p:cNvPr>
          <p:cNvCxnSpPr>
            <a:cxnSpLocks/>
          </p:cNvCxnSpPr>
          <p:nvPr/>
        </p:nvCxnSpPr>
        <p:spPr>
          <a:xfrm>
            <a:off x="205273" y="1287624"/>
            <a:ext cx="87334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F8755DA-436B-495B-9EB6-D92179B5036F}"/>
              </a:ext>
            </a:extLst>
          </p:cNvPr>
          <p:cNvSpPr txBox="1"/>
          <p:nvPr/>
        </p:nvSpPr>
        <p:spPr>
          <a:xfrm>
            <a:off x="444832" y="1519806"/>
            <a:ext cx="724055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BLDC </a:t>
            </a:r>
            <a:r>
              <a:rPr lang="zh-CN" altLang="en-US" sz="2400" b="1" dirty="0"/>
              <a:t>方波控制</a:t>
            </a:r>
            <a:endParaRPr lang="en-US" altLang="zh-CN" sz="2400" b="1" dirty="0"/>
          </a:p>
          <a:p>
            <a:endParaRPr lang="en-US" altLang="zh-CN" sz="2400" dirty="0"/>
          </a:p>
          <a:p>
            <a:r>
              <a:rPr lang="en-US" altLang="zh-CN" sz="2400" dirty="0"/>
              <a:t>PAC5233</a:t>
            </a:r>
            <a:endParaRPr lang="en-US" altLang="zh-CN" sz="2000" dirty="0"/>
          </a:p>
          <a:p>
            <a:r>
              <a:rPr lang="en-US" altLang="zh-CN" sz="2000" dirty="0"/>
              <a:t>      1</a:t>
            </a:r>
            <a:r>
              <a:rPr lang="zh-CN" altLang="en-US" sz="2000" dirty="0"/>
              <a:t>、</a:t>
            </a:r>
            <a:r>
              <a:rPr lang="en-US" altLang="zh-CN" sz="2000" dirty="0"/>
              <a:t> M0</a:t>
            </a:r>
            <a:r>
              <a:rPr lang="zh-CN" altLang="en-US" sz="2000" dirty="0"/>
              <a:t>内核</a:t>
            </a:r>
            <a:endParaRPr lang="en-US" altLang="zh-CN" sz="2000" dirty="0"/>
          </a:p>
          <a:p>
            <a:r>
              <a:rPr lang="en-US" altLang="zh-CN" sz="2000" dirty="0"/>
              <a:t>      2</a:t>
            </a:r>
            <a:r>
              <a:rPr lang="zh-CN" altLang="en-US" sz="2000" dirty="0"/>
              <a:t>、带</a:t>
            </a:r>
            <a:r>
              <a:rPr lang="en-US" altLang="zh-CN" sz="2000" dirty="0"/>
              <a:t>MOSFET</a:t>
            </a:r>
            <a:r>
              <a:rPr lang="zh-CN" altLang="en-US" sz="2000" dirty="0"/>
              <a:t>预驱动</a:t>
            </a:r>
            <a:endParaRPr lang="en-US" altLang="zh-CN" sz="2000" dirty="0"/>
          </a:p>
          <a:p>
            <a:r>
              <a:rPr lang="en-US" altLang="zh-CN" sz="2000" dirty="0"/>
              <a:t>      3</a:t>
            </a:r>
            <a:r>
              <a:rPr lang="zh-CN" altLang="en-US" sz="2000" dirty="0"/>
              <a:t>、集成</a:t>
            </a:r>
            <a:r>
              <a:rPr lang="en-US" altLang="zh-CN" sz="2000" dirty="0"/>
              <a:t>LDO</a:t>
            </a:r>
          </a:p>
          <a:p>
            <a:r>
              <a:rPr lang="en-US" altLang="zh-CN" sz="2000" dirty="0"/>
              <a:t>      </a:t>
            </a:r>
          </a:p>
          <a:p>
            <a:endParaRPr lang="en-US" altLang="zh-CN" sz="2000" dirty="0"/>
          </a:p>
          <a:p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7483434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44DAE1-E9A5-4192-82C2-FB66F42CA4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097" y="577565"/>
            <a:ext cx="2146430" cy="6010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EE9CDB90-D293-43F8-896A-1152512083C6}"/>
              </a:ext>
            </a:extLst>
          </p:cNvPr>
          <p:cNvSpPr txBox="1">
            <a:spLocks noChangeArrowheads="1"/>
          </p:cNvSpPr>
          <p:nvPr/>
        </p:nvSpPr>
        <p:spPr>
          <a:xfrm>
            <a:off x="338380" y="310202"/>
            <a:ext cx="7347007" cy="8683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适合电机控制产品及方案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084D090-18BB-4A7D-97B8-EBDDAAF133D6}"/>
              </a:ext>
            </a:extLst>
          </p:cNvPr>
          <p:cNvCxnSpPr>
            <a:cxnSpLocks/>
          </p:cNvCxnSpPr>
          <p:nvPr/>
        </p:nvCxnSpPr>
        <p:spPr>
          <a:xfrm>
            <a:off x="205273" y="1287624"/>
            <a:ext cx="87334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F8755DA-436B-495B-9EB6-D92179B5036F}"/>
              </a:ext>
            </a:extLst>
          </p:cNvPr>
          <p:cNvSpPr txBox="1"/>
          <p:nvPr/>
        </p:nvSpPr>
        <p:spPr>
          <a:xfrm>
            <a:off x="444832" y="1519806"/>
            <a:ext cx="724055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BLDC </a:t>
            </a:r>
            <a:r>
              <a:rPr lang="zh-CN" altLang="en-US" sz="2400" b="1" dirty="0"/>
              <a:t>方波控制</a:t>
            </a:r>
            <a:endParaRPr lang="en-US" altLang="zh-CN" sz="2400" b="1" dirty="0"/>
          </a:p>
          <a:p>
            <a:endParaRPr lang="en-US" altLang="zh-CN" sz="2400" dirty="0"/>
          </a:p>
          <a:p>
            <a:r>
              <a:rPr lang="en-US" altLang="zh-CN" sz="2400" dirty="0"/>
              <a:t>PAC5233</a:t>
            </a:r>
            <a:endParaRPr lang="en-US" altLang="zh-CN" sz="2000" dirty="0"/>
          </a:p>
          <a:p>
            <a:r>
              <a:rPr lang="en-US" altLang="zh-CN" sz="2000" dirty="0"/>
              <a:t>      1</a:t>
            </a:r>
            <a:r>
              <a:rPr lang="zh-CN" altLang="en-US" sz="2000" dirty="0"/>
              <a:t>、</a:t>
            </a:r>
            <a:r>
              <a:rPr lang="en-US" altLang="zh-CN" sz="2000" dirty="0"/>
              <a:t> M0</a:t>
            </a:r>
            <a:r>
              <a:rPr lang="zh-CN" altLang="en-US" sz="2000" dirty="0"/>
              <a:t>内核</a:t>
            </a:r>
            <a:endParaRPr lang="en-US" altLang="zh-CN" sz="2000" dirty="0"/>
          </a:p>
          <a:p>
            <a:r>
              <a:rPr lang="en-US" altLang="zh-CN" sz="2000" dirty="0"/>
              <a:t>      2</a:t>
            </a:r>
            <a:r>
              <a:rPr lang="zh-CN" altLang="en-US" sz="2000" dirty="0"/>
              <a:t>、带</a:t>
            </a:r>
            <a:r>
              <a:rPr lang="en-US" altLang="zh-CN" sz="2000" dirty="0"/>
              <a:t>MOSFET</a:t>
            </a:r>
            <a:r>
              <a:rPr lang="zh-CN" altLang="en-US" sz="2000" dirty="0"/>
              <a:t>预驱动</a:t>
            </a:r>
            <a:endParaRPr lang="en-US" altLang="zh-CN" sz="2000" dirty="0"/>
          </a:p>
          <a:p>
            <a:r>
              <a:rPr lang="en-US" altLang="zh-CN" sz="2000" dirty="0"/>
              <a:t>      3</a:t>
            </a:r>
            <a:r>
              <a:rPr lang="zh-CN" altLang="en-US" sz="2000" dirty="0"/>
              <a:t>、集成</a:t>
            </a:r>
            <a:r>
              <a:rPr lang="en-US" altLang="zh-CN" sz="2000" dirty="0"/>
              <a:t>LDO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522569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1483</TotalTime>
  <Words>1132</Words>
  <Application>Microsoft Office PowerPoint</Application>
  <PresentationFormat>全屏显示(4:3)</PresentationFormat>
  <Paragraphs>203</Paragraphs>
  <Slides>32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0" baseType="lpstr">
      <vt:lpstr>等线</vt:lpstr>
      <vt:lpstr>等线 Light</vt:lpstr>
      <vt:lpstr>黑体</vt:lpstr>
      <vt:lpstr>Arial</vt:lpstr>
      <vt:lpstr>Calibri</vt:lpstr>
      <vt:lpstr>Calibri Light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 shulu</dc:creator>
  <cp:lastModifiedBy>wu shulu</cp:lastModifiedBy>
  <cp:revision>62</cp:revision>
  <dcterms:created xsi:type="dcterms:W3CDTF">2019-10-24T01:13:34Z</dcterms:created>
  <dcterms:modified xsi:type="dcterms:W3CDTF">2019-10-28T11:23:00Z</dcterms:modified>
</cp:coreProperties>
</file>